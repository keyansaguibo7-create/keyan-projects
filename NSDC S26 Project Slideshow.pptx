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0287000" cx="18288000"/>
  <p:notesSz cx="6858000" cy="9144000"/>
  <p:embeddedFontLst>
    <p:embeddedFont>
      <p:font typeface="Play"/>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9" roundtripDataSignature="AMtx7mj9IN4mayD+Sc1wN25MLZ6c7el9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lay-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Pl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b424d488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eb424d488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b39f0c2f0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eb39f0c2f0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b424d488f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3eb424d488f_1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23.jpg"/><Relationship Id="rId9" Type="http://schemas.openxmlformats.org/officeDocument/2006/relationships/image" Target="../media/image16.png"/><Relationship Id="rId5" Type="http://schemas.openxmlformats.org/officeDocument/2006/relationships/image" Target="../media/image10.png"/><Relationship Id="rId6" Type="http://schemas.openxmlformats.org/officeDocument/2006/relationships/image" Target="../media/image6.png"/><Relationship Id="rId7" Type="http://schemas.openxmlformats.org/officeDocument/2006/relationships/image" Target="../media/image18.png"/><Relationship Id="rId8"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jpg"/><Relationship Id="rId5"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20.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85" name="Google Shape;85;p1"/>
          <p:cNvGrpSpPr/>
          <p:nvPr/>
        </p:nvGrpSpPr>
        <p:grpSpPr>
          <a:xfrm>
            <a:off x="14052052" y="-144661"/>
            <a:ext cx="4235948" cy="10431661"/>
            <a:chOff x="0" y="-38100"/>
            <a:chExt cx="1115641" cy="2747433"/>
          </a:xfrm>
        </p:grpSpPr>
        <p:sp>
          <p:nvSpPr>
            <p:cNvPr id="86" name="Google Shape;86;p1"/>
            <p:cNvSpPr/>
            <p:nvPr/>
          </p:nvSpPr>
          <p:spPr>
            <a:xfrm>
              <a:off x="0" y="0"/>
              <a:ext cx="1115641" cy="2709333"/>
            </a:xfrm>
            <a:custGeom>
              <a:rect b="b" l="l" r="r" t="t"/>
              <a:pathLst>
                <a:path extrusionOk="0" h="2709333" w="1115641">
                  <a:moveTo>
                    <a:pt x="0" y="0"/>
                  </a:moveTo>
                  <a:lnTo>
                    <a:pt x="1115641" y="0"/>
                  </a:lnTo>
                  <a:lnTo>
                    <a:pt x="1115641" y="2709333"/>
                  </a:lnTo>
                  <a:lnTo>
                    <a:pt x="0" y="2709333"/>
                  </a:lnTo>
                  <a:close/>
                </a:path>
              </a:pathLst>
            </a:custGeom>
            <a:solidFill>
              <a:srgbClr val="791401"/>
            </a:solidFill>
            <a:ln>
              <a:noFill/>
            </a:ln>
          </p:spPr>
        </p:sp>
        <p:sp>
          <p:nvSpPr>
            <p:cNvPr id="87" name="Google Shape;87;p1"/>
            <p:cNvSpPr txBox="1"/>
            <p:nvPr/>
          </p:nvSpPr>
          <p:spPr>
            <a:xfrm>
              <a:off x="0" y="-38100"/>
              <a:ext cx="1115641"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59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 name="Google Shape;88;p1"/>
          <p:cNvGrpSpPr/>
          <p:nvPr/>
        </p:nvGrpSpPr>
        <p:grpSpPr>
          <a:xfrm>
            <a:off x="14052052" y="0"/>
            <a:ext cx="5143500" cy="10287000"/>
            <a:chOff x="0" y="0"/>
            <a:chExt cx="6858000" cy="13716000"/>
          </a:xfrm>
        </p:grpSpPr>
        <p:sp>
          <p:nvSpPr>
            <p:cNvPr id="89" name="Google Shape;89;p1"/>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4">
                <a:alphaModFix amt="15000"/>
              </a:blip>
              <a:stretch>
                <a:fillRect b="0" l="0" r="0" t="0"/>
              </a:stretch>
            </a:blipFill>
            <a:ln>
              <a:noFill/>
            </a:ln>
          </p:spPr>
        </p:sp>
        <p:sp>
          <p:nvSpPr>
            <p:cNvPr id="90" name="Google Shape;90;p1"/>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4">
                <a:alphaModFix amt="15000"/>
              </a:blip>
              <a:stretch>
                <a:fillRect b="0" l="0" r="0" t="0"/>
              </a:stretch>
            </a:blipFill>
            <a:ln>
              <a:noFill/>
            </a:ln>
          </p:spPr>
        </p:sp>
      </p:grpSp>
      <p:grpSp>
        <p:nvGrpSpPr>
          <p:cNvPr id="91" name="Google Shape;91;p1"/>
          <p:cNvGrpSpPr/>
          <p:nvPr/>
        </p:nvGrpSpPr>
        <p:grpSpPr>
          <a:xfrm>
            <a:off x="15481179" y="613780"/>
            <a:ext cx="1919429" cy="711193"/>
            <a:chOff x="0" y="-38100"/>
            <a:chExt cx="505529" cy="187310"/>
          </a:xfrm>
        </p:grpSpPr>
        <p:sp>
          <p:nvSpPr>
            <p:cNvPr id="92" name="Google Shape;92;p1"/>
            <p:cNvSpPr/>
            <p:nvPr/>
          </p:nvSpPr>
          <p:spPr>
            <a:xfrm>
              <a:off x="0"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txBox="1"/>
            <p:nvPr/>
          </p:nvSpPr>
          <p:spPr>
            <a:xfrm>
              <a:off x="0" y="-38100"/>
              <a:ext cx="505529" cy="187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94" name="Google Shape;94;p1"/>
          <p:cNvCxnSpPr/>
          <p:nvPr/>
        </p:nvCxnSpPr>
        <p:spPr>
          <a:xfrm flipH="1" rot="10800000">
            <a:off x="1387662" y="6597825"/>
            <a:ext cx="2492100" cy="21600"/>
          </a:xfrm>
          <a:prstGeom prst="straightConnector1">
            <a:avLst/>
          </a:prstGeom>
          <a:noFill/>
          <a:ln cap="flat" cmpd="sng" w="38100">
            <a:solidFill>
              <a:srgbClr val="791401"/>
            </a:solidFill>
            <a:prstDash val="solid"/>
            <a:round/>
            <a:headEnd len="sm" w="sm" type="none"/>
            <a:tailEnd len="sm" w="sm" type="none"/>
          </a:ln>
        </p:spPr>
      </p:cxnSp>
      <p:sp>
        <p:nvSpPr>
          <p:cNvPr id="95" name="Google Shape;95;p1"/>
          <p:cNvSpPr txBox="1"/>
          <p:nvPr/>
        </p:nvSpPr>
        <p:spPr>
          <a:xfrm>
            <a:off x="987275" y="1571576"/>
            <a:ext cx="9582900" cy="3044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9780">
                <a:solidFill>
                  <a:srgbClr val="2A2D2C"/>
                </a:solidFill>
                <a:latin typeface="Play"/>
                <a:ea typeface="Play"/>
                <a:cs typeface="Play"/>
                <a:sym typeface="Play"/>
              </a:rPr>
              <a:t>Outfit</a:t>
            </a:r>
            <a:r>
              <a:rPr b="1" lang="en-US" sz="19780">
                <a:solidFill>
                  <a:srgbClr val="2A2D2C"/>
                </a:solidFill>
                <a:latin typeface="Play"/>
                <a:ea typeface="Play"/>
                <a:cs typeface="Play"/>
                <a:sym typeface="Play"/>
              </a:rPr>
              <a:t> </a:t>
            </a:r>
            <a:endParaRPr b="1" sz="100"/>
          </a:p>
        </p:txBody>
      </p:sp>
      <p:sp>
        <p:nvSpPr>
          <p:cNvPr id="96" name="Google Shape;96;p1"/>
          <p:cNvSpPr txBox="1"/>
          <p:nvPr/>
        </p:nvSpPr>
        <p:spPr>
          <a:xfrm>
            <a:off x="987273" y="3906725"/>
            <a:ext cx="11414400" cy="2679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7410">
                <a:solidFill>
                  <a:srgbClr val="791401"/>
                </a:solidFill>
                <a:latin typeface="Play"/>
                <a:ea typeface="Play"/>
                <a:cs typeface="Play"/>
                <a:sym typeface="Play"/>
              </a:rPr>
              <a:t>Generator</a:t>
            </a:r>
            <a:endParaRPr b="1" sz="100">
              <a:latin typeface="Play"/>
              <a:ea typeface="Play"/>
              <a:cs typeface="Play"/>
              <a:sym typeface="Play"/>
            </a:endParaRPr>
          </a:p>
        </p:txBody>
      </p:sp>
      <p:sp>
        <p:nvSpPr>
          <p:cNvPr id="97" name="Google Shape;97;p1"/>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Introduction</a:t>
            </a:r>
            <a:endParaRPr/>
          </a:p>
        </p:txBody>
      </p:sp>
      <p:sp>
        <p:nvSpPr>
          <p:cNvPr id="98" name="Google Shape;98;p1"/>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Dataset and </a:t>
            </a:r>
            <a:r>
              <a:rPr lang="en-US" sz="2051">
                <a:solidFill>
                  <a:srgbClr val="2A2D2C"/>
                </a:solidFill>
              </a:rPr>
              <a:t>Cleaning</a:t>
            </a:r>
            <a:endParaRPr/>
          </a:p>
        </p:txBody>
      </p:sp>
      <p:sp>
        <p:nvSpPr>
          <p:cNvPr id="99" name="Google Shape;99;p1"/>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Model</a:t>
            </a:r>
            <a:endParaRPr/>
          </a:p>
        </p:txBody>
      </p:sp>
      <p:sp>
        <p:nvSpPr>
          <p:cNvPr id="100" name="Google Shape;100;p1"/>
          <p:cNvSpPr txBox="1"/>
          <p:nvPr/>
        </p:nvSpPr>
        <p:spPr>
          <a:xfrm>
            <a:off x="15730237" y="894086"/>
            <a:ext cx="1421400" cy="3078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2A2D2C"/>
                </a:solidFill>
                <a:latin typeface="Arial"/>
                <a:ea typeface="Arial"/>
                <a:cs typeface="Arial"/>
                <a:sym typeface="Arial"/>
              </a:rPr>
              <a:t>Page 01</a:t>
            </a:r>
            <a:endParaRPr/>
          </a:p>
        </p:txBody>
      </p:sp>
      <p:sp>
        <p:nvSpPr>
          <p:cNvPr id="101" name="Google Shape;101;p1"/>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rgbClr val="2A2D2C"/>
                </a:solidFill>
              </a:rPr>
              <a:t>NSDC</a:t>
            </a:r>
            <a:endParaRPr/>
          </a:p>
        </p:txBody>
      </p:sp>
      <p:sp>
        <p:nvSpPr>
          <p:cNvPr id="102" name="Google Shape;102;p1"/>
          <p:cNvSpPr txBox="1"/>
          <p:nvPr/>
        </p:nvSpPr>
        <p:spPr>
          <a:xfrm>
            <a:off x="896998" y="9065277"/>
            <a:ext cx="3550200" cy="215400"/>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t/>
            </a:r>
            <a:endParaRPr/>
          </a:p>
        </p:txBody>
      </p:sp>
      <p:sp>
        <p:nvSpPr>
          <p:cNvPr id="103" name="Google Shape;103;p1"/>
          <p:cNvSpPr txBox="1"/>
          <p:nvPr/>
        </p:nvSpPr>
        <p:spPr>
          <a:xfrm>
            <a:off x="1387648" y="7229632"/>
            <a:ext cx="2568900" cy="4818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0" i="0" lang="en-US" sz="3131" u="none" cap="none" strike="noStrike">
                <a:solidFill>
                  <a:srgbClr val="791401"/>
                </a:solidFill>
                <a:latin typeface="Arial"/>
                <a:ea typeface="Arial"/>
                <a:cs typeface="Arial"/>
                <a:sym typeface="Arial"/>
              </a:rPr>
              <a:t>Presented by:</a:t>
            </a:r>
            <a:endParaRPr>
              <a:solidFill>
                <a:srgbClr val="791401"/>
              </a:solidFill>
            </a:endParaRPr>
          </a:p>
        </p:txBody>
      </p:sp>
      <p:sp>
        <p:nvSpPr>
          <p:cNvPr id="104" name="Google Shape;104;p1"/>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Conclusion</a:t>
            </a:r>
            <a:endParaRPr/>
          </a:p>
        </p:txBody>
      </p:sp>
      <p:sp>
        <p:nvSpPr>
          <p:cNvPr id="105" name="Google Shape;105;p1"/>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Evaluation</a:t>
            </a:r>
            <a:endParaRPr/>
          </a:p>
        </p:txBody>
      </p:sp>
      <p:sp>
        <p:nvSpPr>
          <p:cNvPr id="106" name="Google Shape;106;p1"/>
          <p:cNvSpPr/>
          <p:nvPr/>
        </p:nvSpPr>
        <p:spPr>
          <a:xfrm>
            <a:off x="1403525" y="7862150"/>
            <a:ext cx="8750400" cy="1291200"/>
          </a:xfrm>
          <a:prstGeom prst="rect">
            <a:avLst/>
          </a:prstGeom>
          <a:noFill/>
          <a:ln cap="flat" cmpd="sng" w="38100">
            <a:solidFill>
              <a:srgbClr val="79140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7" name="Google Shape;107;p1"/>
          <p:cNvSpPr txBox="1"/>
          <p:nvPr/>
        </p:nvSpPr>
        <p:spPr>
          <a:xfrm>
            <a:off x="1532234" y="7989638"/>
            <a:ext cx="8637300" cy="1036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3131">
                <a:solidFill>
                  <a:srgbClr val="2A2D2C"/>
                </a:solidFill>
              </a:rPr>
              <a:t>Keyan Saguibo, Hana Tanisaka, Aarnav Dharia, and Itzel Valdez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91401"/>
        </a:solidFill>
      </p:bgPr>
    </p:bg>
    <p:spTree>
      <p:nvGrpSpPr>
        <p:cNvPr id="111" name="Shape 111"/>
        <p:cNvGrpSpPr/>
        <p:nvPr/>
      </p:nvGrpSpPr>
      <p:grpSpPr>
        <a:xfrm>
          <a:off x="0" y="0"/>
          <a:ext cx="0" cy="0"/>
          <a:chOff x="0" y="0"/>
          <a:chExt cx="0" cy="0"/>
        </a:xfrm>
      </p:grpSpPr>
      <p:grpSp>
        <p:nvGrpSpPr>
          <p:cNvPr id="112" name="Google Shape;112;p2"/>
          <p:cNvGrpSpPr/>
          <p:nvPr/>
        </p:nvGrpSpPr>
        <p:grpSpPr>
          <a:xfrm>
            <a:off x="-1143000" y="0"/>
            <a:ext cx="20574000" cy="10287000"/>
            <a:chOff x="0" y="0"/>
            <a:chExt cx="27432000" cy="13716000"/>
          </a:xfrm>
        </p:grpSpPr>
        <p:sp>
          <p:nvSpPr>
            <p:cNvPr id="113" name="Google Shape;113;p2"/>
            <p:cNvSpPr/>
            <p:nvPr/>
          </p:nvSpPr>
          <p:spPr>
            <a:xfrm>
              <a:off x="20574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14" name="Google Shape;114;p2"/>
            <p:cNvSpPr/>
            <p:nvPr/>
          </p:nvSpPr>
          <p:spPr>
            <a:xfrm>
              <a:off x="20574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15" name="Google Shape;115;p2"/>
            <p:cNvSpPr/>
            <p:nvPr/>
          </p:nvSpPr>
          <p:spPr>
            <a:xfrm>
              <a:off x="13716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16" name="Google Shape;116;p2"/>
            <p:cNvSpPr/>
            <p:nvPr/>
          </p:nvSpPr>
          <p:spPr>
            <a:xfrm>
              <a:off x="13716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17" name="Google Shape;117;p2"/>
            <p:cNvSpPr/>
            <p:nvPr/>
          </p:nvSpPr>
          <p:spPr>
            <a:xfrm>
              <a:off x="6858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18" name="Google Shape;118;p2"/>
            <p:cNvSpPr/>
            <p:nvPr/>
          </p:nvSpPr>
          <p:spPr>
            <a:xfrm>
              <a:off x="6858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19" name="Google Shape;119;p2"/>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20" name="Google Shape;120;p2"/>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grpSp>
      <p:grpSp>
        <p:nvGrpSpPr>
          <p:cNvPr id="121" name="Google Shape;121;p2"/>
          <p:cNvGrpSpPr/>
          <p:nvPr/>
        </p:nvGrpSpPr>
        <p:grpSpPr>
          <a:xfrm>
            <a:off x="15481179" y="613780"/>
            <a:ext cx="1919429" cy="711193"/>
            <a:chOff x="0" y="-38100"/>
            <a:chExt cx="505529" cy="187310"/>
          </a:xfrm>
        </p:grpSpPr>
        <p:sp>
          <p:nvSpPr>
            <p:cNvPr id="122" name="Google Shape;122;p2"/>
            <p:cNvSpPr/>
            <p:nvPr/>
          </p:nvSpPr>
          <p:spPr>
            <a:xfrm>
              <a:off x="0"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txBox="1"/>
            <p:nvPr/>
          </p:nvSpPr>
          <p:spPr>
            <a:xfrm>
              <a:off x="0" y="-38100"/>
              <a:ext cx="505529" cy="187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4" name="Google Shape;124;p2"/>
          <p:cNvSpPr txBox="1"/>
          <p:nvPr/>
        </p:nvSpPr>
        <p:spPr>
          <a:xfrm>
            <a:off x="896997" y="1828201"/>
            <a:ext cx="7914600" cy="1600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400" u="none" cap="none" strike="noStrike">
                <a:solidFill>
                  <a:srgbClr val="D0C1AA"/>
                </a:solidFill>
                <a:latin typeface="Play"/>
                <a:ea typeface="Play"/>
                <a:cs typeface="Play"/>
                <a:sym typeface="Play"/>
              </a:rPr>
              <a:t>Introduction</a:t>
            </a:r>
            <a:endParaRPr>
              <a:solidFill>
                <a:srgbClr val="D0C1AA"/>
              </a:solidFill>
            </a:endParaRPr>
          </a:p>
        </p:txBody>
      </p:sp>
      <p:sp>
        <p:nvSpPr>
          <p:cNvPr id="125" name="Google Shape;125;p2"/>
          <p:cNvSpPr txBox="1"/>
          <p:nvPr/>
        </p:nvSpPr>
        <p:spPr>
          <a:xfrm>
            <a:off x="15730237" y="894086"/>
            <a:ext cx="1421400" cy="3078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2A2D2C"/>
                </a:solidFill>
                <a:latin typeface="Arial"/>
                <a:ea typeface="Arial"/>
                <a:cs typeface="Arial"/>
                <a:sym typeface="Arial"/>
              </a:rPr>
              <a:t>Page 02</a:t>
            </a:r>
            <a:endParaRPr/>
          </a:p>
        </p:txBody>
      </p:sp>
      <p:sp>
        <p:nvSpPr>
          <p:cNvPr id="126" name="Google Shape;126;p2"/>
          <p:cNvSpPr txBox="1"/>
          <p:nvPr/>
        </p:nvSpPr>
        <p:spPr>
          <a:xfrm>
            <a:off x="897000" y="3747550"/>
            <a:ext cx="10020000" cy="4051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FFFFFF"/>
                </a:solidFill>
              </a:rPr>
              <a:t>Our Goal: </a:t>
            </a:r>
            <a:r>
              <a:rPr lang="en-US" sz="2800">
                <a:solidFill>
                  <a:srgbClr val="FFFFFF"/>
                </a:solidFill>
              </a:rPr>
              <a:t>develop an outfit recommendation system that generates cohesive outfits from individual clothing items using machine learning techniques and outfit compatibility patterns. </a:t>
            </a:r>
            <a:endParaRPr sz="2800">
              <a:solidFill>
                <a:srgbClr val="FFFFFF"/>
              </a:solidFill>
            </a:endParaRPr>
          </a:p>
          <a:p>
            <a:pPr indent="0" lvl="0" marL="0" marR="0" rtl="0" algn="l">
              <a:lnSpc>
                <a:spcPct val="140000"/>
              </a:lnSpc>
              <a:spcBef>
                <a:spcPts val="0"/>
              </a:spcBef>
              <a:spcAft>
                <a:spcPts val="0"/>
              </a:spcAft>
              <a:buNone/>
            </a:pPr>
            <a:r>
              <a:t/>
            </a:r>
            <a:endParaRPr sz="2800">
              <a:solidFill>
                <a:srgbClr val="FFFFFF"/>
              </a:solidFill>
            </a:endParaRPr>
          </a:p>
          <a:p>
            <a:pPr indent="0" lvl="0" marL="0" marR="0" rtl="0" algn="l">
              <a:lnSpc>
                <a:spcPct val="140000"/>
              </a:lnSpc>
              <a:spcBef>
                <a:spcPts val="0"/>
              </a:spcBef>
              <a:spcAft>
                <a:spcPts val="0"/>
              </a:spcAft>
              <a:buNone/>
            </a:pPr>
            <a:r>
              <a:rPr lang="en-US" sz="2800">
                <a:solidFill>
                  <a:srgbClr val="FFFFFF"/>
                </a:solidFill>
              </a:rPr>
              <a:t>Our project also incorporates clothing item IDs as an accessibility feature for colorblind users, helping generate outfit recommendations without relying solely on color perception.</a:t>
            </a:r>
            <a:endParaRPr sz="2800">
              <a:solidFill>
                <a:srgbClr val="FFFFFF"/>
              </a:solidFill>
            </a:endParaRPr>
          </a:p>
        </p:txBody>
      </p:sp>
      <p:sp>
        <p:nvSpPr>
          <p:cNvPr id="127" name="Google Shape;127;p2"/>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1" lang="en-US" sz="2051">
                <a:solidFill>
                  <a:srgbClr val="D0C1AA"/>
                </a:solidFill>
              </a:rPr>
              <a:t>Introduction</a:t>
            </a:r>
            <a:endParaRPr b="1">
              <a:solidFill>
                <a:srgbClr val="D0C1AA"/>
              </a:solidFill>
            </a:endParaRPr>
          </a:p>
        </p:txBody>
      </p:sp>
      <p:sp>
        <p:nvSpPr>
          <p:cNvPr id="128" name="Google Shape;128;p2"/>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Dataset and Cleaning</a:t>
            </a:r>
            <a:endParaRPr>
              <a:solidFill>
                <a:schemeClr val="lt1"/>
              </a:solidFill>
            </a:endParaRPr>
          </a:p>
        </p:txBody>
      </p:sp>
      <p:sp>
        <p:nvSpPr>
          <p:cNvPr id="129" name="Google Shape;129;p2"/>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Model</a:t>
            </a:r>
            <a:endParaRPr>
              <a:solidFill>
                <a:schemeClr val="lt1"/>
              </a:solidFill>
            </a:endParaRPr>
          </a:p>
        </p:txBody>
      </p:sp>
      <p:sp>
        <p:nvSpPr>
          <p:cNvPr id="130" name="Google Shape;130;p2"/>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chemeClr val="lt1"/>
                </a:solidFill>
              </a:rPr>
              <a:t>NSDC</a:t>
            </a:r>
            <a:endParaRPr>
              <a:solidFill>
                <a:schemeClr val="lt1"/>
              </a:solidFill>
            </a:endParaRPr>
          </a:p>
        </p:txBody>
      </p:sp>
      <p:sp>
        <p:nvSpPr>
          <p:cNvPr id="131" name="Google Shape;131;p2"/>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Conclusion</a:t>
            </a:r>
            <a:endParaRPr>
              <a:solidFill>
                <a:schemeClr val="lt1"/>
              </a:solidFill>
            </a:endParaRPr>
          </a:p>
        </p:txBody>
      </p:sp>
      <p:sp>
        <p:nvSpPr>
          <p:cNvPr id="132" name="Google Shape;132;p2"/>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Evaluation</a:t>
            </a:r>
            <a:endParaRPr>
              <a:solidFill>
                <a:schemeClr val="lt1"/>
              </a:solidFill>
            </a:endParaRPr>
          </a:p>
        </p:txBody>
      </p:sp>
      <p:pic>
        <p:nvPicPr>
          <p:cNvPr descr="Clothes PNGs for Free Download" id="133" name="Google Shape;133;p2"/>
          <p:cNvPicPr preferRelativeResize="0"/>
          <p:nvPr/>
        </p:nvPicPr>
        <p:blipFill>
          <a:blip r:embed="rId4">
            <a:alphaModFix/>
          </a:blip>
          <a:stretch>
            <a:fillRect/>
          </a:stretch>
        </p:blipFill>
        <p:spPr>
          <a:xfrm>
            <a:off x="10791350" y="1467013"/>
            <a:ext cx="7658775" cy="7658775"/>
          </a:xfrm>
          <a:prstGeom prst="rect">
            <a:avLst/>
          </a:prstGeom>
          <a:noFill/>
          <a:ln>
            <a:noFill/>
          </a:ln>
        </p:spPr>
      </p:pic>
      <p:cxnSp>
        <p:nvCxnSpPr>
          <p:cNvPr id="134" name="Google Shape;134;p2"/>
          <p:cNvCxnSpPr/>
          <p:nvPr/>
        </p:nvCxnSpPr>
        <p:spPr>
          <a:xfrm>
            <a:off x="1028700" y="9490751"/>
            <a:ext cx="162306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91401"/>
        </a:solidFill>
      </p:bgPr>
    </p:bg>
    <p:spTree>
      <p:nvGrpSpPr>
        <p:cNvPr id="138" name="Shape 138"/>
        <p:cNvGrpSpPr/>
        <p:nvPr/>
      </p:nvGrpSpPr>
      <p:grpSpPr>
        <a:xfrm>
          <a:off x="0" y="0"/>
          <a:ext cx="0" cy="0"/>
          <a:chOff x="0" y="0"/>
          <a:chExt cx="0" cy="0"/>
        </a:xfrm>
      </p:grpSpPr>
      <p:grpSp>
        <p:nvGrpSpPr>
          <p:cNvPr id="139" name="Google Shape;139;p3"/>
          <p:cNvGrpSpPr/>
          <p:nvPr/>
        </p:nvGrpSpPr>
        <p:grpSpPr>
          <a:xfrm>
            <a:off x="-1143000" y="0"/>
            <a:ext cx="20574000" cy="10287000"/>
            <a:chOff x="0" y="0"/>
            <a:chExt cx="27432000" cy="13716000"/>
          </a:xfrm>
        </p:grpSpPr>
        <p:sp>
          <p:nvSpPr>
            <p:cNvPr id="140" name="Google Shape;140;p3"/>
            <p:cNvSpPr/>
            <p:nvPr/>
          </p:nvSpPr>
          <p:spPr>
            <a:xfrm>
              <a:off x="20574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41" name="Google Shape;141;p3"/>
            <p:cNvSpPr/>
            <p:nvPr/>
          </p:nvSpPr>
          <p:spPr>
            <a:xfrm>
              <a:off x="20574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42" name="Google Shape;142;p3"/>
            <p:cNvSpPr/>
            <p:nvPr/>
          </p:nvSpPr>
          <p:spPr>
            <a:xfrm>
              <a:off x="13716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43" name="Google Shape;143;p3"/>
            <p:cNvSpPr/>
            <p:nvPr/>
          </p:nvSpPr>
          <p:spPr>
            <a:xfrm>
              <a:off x="13716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44" name="Google Shape;144;p3"/>
            <p:cNvSpPr/>
            <p:nvPr/>
          </p:nvSpPr>
          <p:spPr>
            <a:xfrm>
              <a:off x="6858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45" name="Google Shape;145;p3"/>
            <p:cNvSpPr/>
            <p:nvPr/>
          </p:nvSpPr>
          <p:spPr>
            <a:xfrm>
              <a:off x="6858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46" name="Google Shape;146;p3"/>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47" name="Google Shape;147;p3"/>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grpSp>
      <p:grpSp>
        <p:nvGrpSpPr>
          <p:cNvPr id="148" name="Google Shape;148;p3"/>
          <p:cNvGrpSpPr/>
          <p:nvPr/>
        </p:nvGrpSpPr>
        <p:grpSpPr>
          <a:xfrm>
            <a:off x="15481179" y="613780"/>
            <a:ext cx="1919429" cy="711193"/>
            <a:chOff x="0" y="-38100"/>
            <a:chExt cx="505529" cy="187310"/>
          </a:xfrm>
        </p:grpSpPr>
        <p:sp>
          <p:nvSpPr>
            <p:cNvPr id="149" name="Google Shape;149;p3"/>
            <p:cNvSpPr/>
            <p:nvPr/>
          </p:nvSpPr>
          <p:spPr>
            <a:xfrm>
              <a:off x="0"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txBox="1"/>
            <p:nvPr/>
          </p:nvSpPr>
          <p:spPr>
            <a:xfrm>
              <a:off x="0" y="-38100"/>
              <a:ext cx="505529" cy="187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51" name="Google Shape;151;p3"/>
          <p:cNvCxnSpPr/>
          <p:nvPr/>
        </p:nvCxnSpPr>
        <p:spPr>
          <a:xfrm>
            <a:off x="1028700" y="9490751"/>
            <a:ext cx="16230600" cy="0"/>
          </a:xfrm>
          <a:prstGeom prst="straightConnector1">
            <a:avLst/>
          </a:prstGeom>
          <a:noFill/>
          <a:ln cap="flat" cmpd="sng" w="38100">
            <a:solidFill>
              <a:srgbClr val="FFFFFF"/>
            </a:solidFill>
            <a:prstDash val="solid"/>
            <a:round/>
            <a:headEnd len="sm" w="sm" type="none"/>
            <a:tailEnd len="sm" w="sm" type="none"/>
          </a:ln>
        </p:spPr>
      </p:cxnSp>
      <p:sp>
        <p:nvSpPr>
          <p:cNvPr id="152" name="Google Shape;152;p3"/>
          <p:cNvSpPr txBox="1"/>
          <p:nvPr/>
        </p:nvSpPr>
        <p:spPr>
          <a:xfrm>
            <a:off x="1084100" y="1576055"/>
            <a:ext cx="15331500" cy="1215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7900">
                <a:solidFill>
                  <a:srgbClr val="D0C1AA"/>
                </a:solidFill>
                <a:latin typeface="Play"/>
                <a:ea typeface="Play"/>
                <a:cs typeface="Play"/>
                <a:sym typeface="Play"/>
              </a:rPr>
              <a:t>Dataset Overview</a:t>
            </a:r>
            <a:endParaRPr sz="100"/>
          </a:p>
        </p:txBody>
      </p:sp>
      <p:sp>
        <p:nvSpPr>
          <p:cNvPr id="153" name="Google Shape;153;p3"/>
          <p:cNvSpPr txBox="1"/>
          <p:nvPr/>
        </p:nvSpPr>
        <p:spPr>
          <a:xfrm>
            <a:off x="15730237" y="894086"/>
            <a:ext cx="1421400" cy="3078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2A2D2C"/>
                </a:solidFill>
                <a:latin typeface="Arial"/>
                <a:ea typeface="Arial"/>
                <a:cs typeface="Arial"/>
                <a:sym typeface="Arial"/>
              </a:rPr>
              <a:t>Page 03</a:t>
            </a:r>
            <a:endParaRPr/>
          </a:p>
        </p:txBody>
      </p:sp>
      <p:sp>
        <p:nvSpPr>
          <p:cNvPr id="154" name="Google Shape;154;p3"/>
          <p:cNvSpPr txBox="1"/>
          <p:nvPr/>
        </p:nvSpPr>
        <p:spPr>
          <a:xfrm>
            <a:off x="1084100" y="3032150"/>
            <a:ext cx="6239700" cy="6218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600">
                <a:solidFill>
                  <a:srgbClr val="FFFFFF"/>
                </a:solidFill>
              </a:rPr>
              <a:t>P</a:t>
            </a:r>
            <a:r>
              <a:rPr b="1" lang="en-US" sz="2700">
                <a:solidFill>
                  <a:srgbClr val="FFFFFF"/>
                </a:solidFill>
              </a:rPr>
              <a:t>olyvore Dataset Overview:</a:t>
            </a:r>
            <a:endParaRPr b="1" sz="2700">
              <a:solidFill>
                <a:srgbClr val="FFFFFF"/>
              </a:solidFill>
            </a:endParaRPr>
          </a:p>
          <a:p>
            <a:pPr indent="-400050" lvl="0" marL="457200" marR="0" rtl="0" algn="l">
              <a:lnSpc>
                <a:spcPct val="140000"/>
              </a:lnSpc>
              <a:spcBef>
                <a:spcPts val="0"/>
              </a:spcBef>
              <a:spcAft>
                <a:spcPts val="0"/>
              </a:spcAft>
              <a:buClr>
                <a:srgbClr val="FFFFFF"/>
              </a:buClr>
              <a:buSzPts val="2700"/>
              <a:buChar char="●"/>
            </a:pPr>
            <a:r>
              <a:rPr lang="en-US" sz="2700">
                <a:solidFill>
                  <a:srgbClr val="FFFFFF"/>
                </a:solidFill>
              </a:rPr>
              <a:t>94.1k rows of clothing items grouped into complete outfits. Each row includes information such as: </a:t>
            </a:r>
            <a:endParaRPr sz="2700">
              <a:solidFill>
                <a:srgbClr val="FFFFFF"/>
              </a:solidFill>
            </a:endParaRPr>
          </a:p>
          <a:p>
            <a:pPr indent="-400050" lvl="2" marL="1371600" marR="0" rtl="0" algn="l">
              <a:lnSpc>
                <a:spcPct val="140000"/>
              </a:lnSpc>
              <a:spcBef>
                <a:spcPts val="0"/>
              </a:spcBef>
              <a:spcAft>
                <a:spcPts val="0"/>
              </a:spcAft>
              <a:buClr>
                <a:srgbClr val="FFFFFF"/>
              </a:buClr>
              <a:buSzPts val="2700"/>
              <a:buChar char="■"/>
            </a:pPr>
            <a:r>
              <a:rPr lang="en-US" sz="2700">
                <a:solidFill>
                  <a:srgbClr val="FFFFFF"/>
                </a:solidFill>
              </a:rPr>
              <a:t>an image of the item</a:t>
            </a:r>
            <a:endParaRPr sz="2700">
              <a:solidFill>
                <a:srgbClr val="FFFFFF"/>
              </a:solidFill>
            </a:endParaRPr>
          </a:p>
          <a:p>
            <a:pPr indent="-400050" lvl="2" marL="1371600" marR="0" rtl="0" algn="l">
              <a:lnSpc>
                <a:spcPct val="140000"/>
              </a:lnSpc>
              <a:spcBef>
                <a:spcPts val="0"/>
              </a:spcBef>
              <a:spcAft>
                <a:spcPts val="0"/>
              </a:spcAft>
              <a:buClr>
                <a:srgbClr val="FFFFFF"/>
              </a:buClr>
              <a:buSzPts val="2700"/>
              <a:buChar char="■"/>
            </a:pPr>
            <a:r>
              <a:rPr lang="en-US" sz="2700">
                <a:solidFill>
                  <a:srgbClr val="FFFFFF"/>
                </a:solidFill>
              </a:rPr>
              <a:t> clothing category (top, bottom, shoes, etc.), </a:t>
            </a:r>
            <a:endParaRPr sz="2700">
              <a:solidFill>
                <a:srgbClr val="FFFFFF"/>
              </a:solidFill>
            </a:endParaRPr>
          </a:p>
          <a:p>
            <a:pPr indent="-400050" lvl="2" marL="1371600" marR="0" rtl="0" algn="l">
              <a:lnSpc>
                <a:spcPct val="140000"/>
              </a:lnSpc>
              <a:spcBef>
                <a:spcPts val="0"/>
              </a:spcBef>
              <a:spcAft>
                <a:spcPts val="0"/>
              </a:spcAft>
              <a:buClr>
                <a:srgbClr val="FFFFFF"/>
              </a:buClr>
              <a:buSzPts val="2700"/>
              <a:buChar char="■"/>
            </a:pPr>
            <a:r>
              <a:rPr lang="en-US" sz="2700">
                <a:solidFill>
                  <a:srgbClr val="FFFFFF"/>
                </a:solidFill>
              </a:rPr>
              <a:t>short text </a:t>
            </a:r>
            <a:r>
              <a:rPr lang="en-US" sz="2700">
                <a:solidFill>
                  <a:srgbClr val="FFFFFF"/>
                </a:solidFill>
              </a:rPr>
              <a:t>description</a:t>
            </a:r>
            <a:r>
              <a:rPr lang="en-US" sz="2700">
                <a:solidFill>
                  <a:srgbClr val="FFFFFF"/>
                </a:solidFill>
              </a:rPr>
              <a:t>,</a:t>
            </a:r>
            <a:endParaRPr sz="2700">
              <a:solidFill>
                <a:srgbClr val="FFFFFF"/>
              </a:solidFill>
            </a:endParaRPr>
          </a:p>
          <a:p>
            <a:pPr indent="-400050" lvl="2" marL="1371600" marR="0" rtl="0" algn="l">
              <a:lnSpc>
                <a:spcPct val="140000"/>
              </a:lnSpc>
              <a:spcBef>
                <a:spcPts val="0"/>
              </a:spcBef>
              <a:spcAft>
                <a:spcPts val="0"/>
              </a:spcAft>
              <a:buClr>
                <a:srgbClr val="FFFFFF"/>
              </a:buClr>
              <a:buSzPts val="2700"/>
              <a:buChar char="■"/>
            </a:pPr>
            <a:r>
              <a:rPr lang="en-US" sz="2700">
                <a:solidFill>
                  <a:srgbClr val="FFFFFF"/>
                </a:solidFill>
              </a:rPr>
              <a:t> </a:t>
            </a:r>
            <a:r>
              <a:rPr lang="en-US" sz="2700">
                <a:solidFill>
                  <a:srgbClr val="FFFFFF"/>
                </a:solidFill>
              </a:rPr>
              <a:t>outfit </a:t>
            </a:r>
            <a:r>
              <a:rPr lang="en-US" sz="2700">
                <a:solidFill>
                  <a:srgbClr val="FFFFFF"/>
                </a:solidFill>
              </a:rPr>
              <a:t>IDs indicating which items belong togethe</a:t>
            </a:r>
            <a:r>
              <a:rPr lang="en-US" sz="2700">
                <a:solidFill>
                  <a:srgbClr val="FFFFFF"/>
                </a:solidFill>
              </a:rPr>
              <a:t>r</a:t>
            </a:r>
            <a:endParaRPr sz="2700">
              <a:solidFill>
                <a:srgbClr val="FFFFFF"/>
              </a:solidFill>
            </a:endParaRPr>
          </a:p>
          <a:p>
            <a:pPr indent="0" lvl="0" marL="0" marR="0" rtl="0" algn="l">
              <a:lnSpc>
                <a:spcPct val="140000"/>
              </a:lnSpc>
              <a:spcBef>
                <a:spcPts val="0"/>
              </a:spcBef>
              <a:spcAft>
                <a:spcPts val="0"/>
              </a:spcAft>
              <a:buNone/>
            </a:pPr>
            <a:r>
              <a:t/>
            </a:r>
            <a:endParaRPr sz="2600">
              <a:solidFill>
                <a:srgbClr val="FFFFFF"/>
              </a:solidFill>
            </a:endParaRPr>
          </a:p>
        </p:txBody>
      </p:sp>
      <p:sp>
        <p:nvSpPr>
          <p:cNvPr id="155" name="Google Shape;155;p3"/>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Introduction</a:t>
            </a:r>
            <a:endParaRPr>
              <a:solidFill>
                <a:schemeClr val="lt1"/>
              </a:solidFill>
            </a:endParaRPr>
          </a:p>
        </p:txBody>
      </p:sp>
      <p:sp>
        <p:nvSpPr>
          <p:cNvPr id="156" name="Google Shape;156;p3"/>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1" lang="en-US" sz="2051">
                <a:solidFill>
                  <a:srgbClr val="D0C1AA"/>
                </a:solidFill>
              </a:rPr>
              <a:t>Dataset and Cleaning</a:t>
            </a:r>
            <a:endParaRPr b="1">
              <a:solidFill>
                <a:srgbClr val="D0C1AA"/>
              </a:solidFill>
            </a:endParaRPr>
          </a:p>
        </p:txBody>
      </p:sp>
      <p:sp>
        <p:nvSpPr>
          <p:cNvPr id="157" name="Google Shape;157;p3"/>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Model</a:t>
            </a:r>
            <a:endParaRPr>
              <a:solidFill>
                <a:schemeClr val="lt1"/>
              </a:solidFill>
            </a:endParaRPr>
          </a:p>
        </p:txBody>
      </p:sp>
      <p:sp>
        <p:nvSpPr>
          <p:cNvPr id="158" name="Google Shape;158;p3"/>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chemeClr val="lt1"/>
                </a:solidFill>
              </a:rPr>
              <a:t>NSDC</a:t>
            </a:r>
            <a:endParaRPr>
              <a:solidFill>
                <a:schemeClr val="lt1"/>
              </a:solidFill>
            </a:endParaRPr>
          </a:p>
        </p:txBody>
      </p:sp>
      <p:sp>
        <p:nvSpPr>
          <p:cNvPr id="159" name="Google Shape;159;p3"/>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Conclusion</a:t>
            </a:r>
            <a:endParaRPr>
              <a:solidFill>
                <a:schemeClr val="lt1"/>
              </a:solidFill>
            </a:endParaRPr>
          </a:p>
        </p:txBody>
      </p:sp>
      <p:sp>
        <p:nvSpPr>
          <p:cNvPr id="160" name="Google Shape;160;p3"/>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Eva</a:t>
            </a:r>
            <a:r>
              <a:rPr lang="en-US" sz="2051">
                <a:solidFill>
                  <a:schemeClr val="lt1"/>
                </a:solidFill>
              </a:rPr>
              <a:t>l</a:t>
            </a:r>
            <a:r>
              <a:rPr lang="en-US" sz="2051">
                <a:solidFill>
                  <a:schemeClr val="lt1"/>
                </a:solidFill>
              </a:rPr>
              <a:t>uation</a:t>
            </a:r>
            <a:endParaRPr>
              <a:solidFill>
                <a:schemeClr val="lt1"/>
              </a:solidFill>
            </a:endParaRPr>
          </a:p>
        </p:txBody>
      </p:sp>
      <p:pic>
        <p:nvPicPr>
          <p:cNvPr id="161" name="Google Shape;161;p3" title="Screenshot 2026-05-28 at 12.25.29 AM.png"/>
          <p:cNvPicPr preferRelativeResize="0"/>
          <p:nvPr/>
        </p:nvPicPr>
        <p:blipFill>
          <a:blip r:embed="rId4">
            <a:alphaModFix/>
          </a:blip>
          <a:stretch>
            <a:fillRect/>
          </a:stretch>
        </p:blipFill>
        <p:spPr>
          <a:xfrm>
            <a:off x="7999625" y="3032150"/>
            <a:ext cx="9259675" cy="6024782"/>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91401"/>
        </a:solidFill>
      </p:bgPr>
    </p:bg>
    <p:spTree>
      <p:nvGrpSpPr>
        <p:cNvPr id="165" name="Shape 165"/>
        <p:cNvGrpSpPr/>
        <p:nvPr/>
      </p:nvGrpSpPr>
      <p:grpSpPr>
        <a:xfrm>
          <a:off x="0" y="0"/>
          <a:ext cx="0" cy="0"/>
          <a:chOff x="0" y="0"/>
          <a:chExt cx="0" cy="0"/>
        </a:xfrm>
      </p:grpSpPr>
      <p:grpSp>
        <p:nvGrpSpPr>
          <p:cNvPr id="166" name="Google Shape;166;g3eb424d488f_0_11"/>
          <p:cNvGrpSpPr/>
          <p:nvPr/>
        </p:nvGrpSpPr>
        <p:grpSpPr>
          <a:xfrm>
            <a:off x="-1143000" y="0"/>
            <a:ext cx="20574000" cy="10287000"/>
            <a:chOff x="0" y="0"/>
            <a:chExt cx="27432000" cy="13716000"/>
          </a:xfrm>
        </p:grpSpPr>
        <p:sp>
          <p:nvSpPr>
            <p:cNvPr id="167" name="Google Shape;167;g3eb424d488f_0_11"/>
            <p:cNvSpPr/>
            <p:nvPr/>
          </p:nvSpPr>
          <p:spPr>
            <a:xfrm>
              <a:off x="20574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68" name="Google Shape;168;g3eb424d488f_0_11"/>
            <p:cNvSpPr/>
            <p:nvPr/>
          </p:nvSpPr>
          <p:spPr>
            <a:xfrm>
              <a:off x="20574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69" name="Google Shape;169;g3eb424d488f_0_11"/>
            <p:cNvSpPr/>
            <p:nvPr/>
          </p:nvSpPr>
          <p:spPr>
            <a:xfrm>
              <a:off x="13716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70" name="Google Shape;170;g3eb424d488f_0_11"/>
            <p:cNvSpPr/>
            <p:nvPr/>
          </p:nvSpPr>
          <p:spPr>
            <a:xfrm>
              <a:off x="13716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71" name="Google Shape;171;g3eb424d488f_0_11"/>
            <p:cNvSpPr/>
            <p:nvPr/>
          </p:nvSpPr>
          <p:spPr>
            <a:xfrm>
              <a:off x="6858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72" name="Google Shape;172;g3eb424d488f_0_11"/>
            <p:cNvSpPr/>
            <p:nvPr/>
          </p:nvSpPr>
          <p:spPr>
            <a:xfrm>
              <a:off x="6858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73" name="Google Shape;173;g3eb424d488f_0_11"/>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74" name="Google Shape;174;g3eb424d488f_0_11"/>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grpSp>
      <p:grpSp>
        <p:nvGrpSpPr>
          <p:cNvPr id="175" name="Google Shape;175;g3eb424d488f_0_11"/>
          <p:cNvGrpSpPr/>
          <p:nvPr/>
        </p:nvGrpSpPr>
        <p:grpSpPr>
          <a:xfrm>
            <a:off x="15481179" y="613779"/>
            <a:ext cx="1919443" cy="711197"/>
            <a:chOff x="0" y="-38100"/>
            <a:chExt cx="505529" cy="187310"/>
          </a:xfrm>
        </p:grpSpPr>
        <p:sp>
          <p:nvSpPr>
            <p:cNvPr id="176" name="Google Shape;176;g3eb424d488f_0_11"/>
            <p:cNvSpPr/>
            <p:nvPr/>
          </p:nvSpPr>
          <p:spPr>
            <a:xfrm>
              <a:off x="0"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eb424d488f_0_11"/>
            <p:cNvSpPr txBox="1"/>
            <p:nvPr/>
          </p:nvSpPr>
          <p:spPr>
            <a:xfrm>
              <a:off x="0" y="-38100"/>
              <a:ext cx="505500" cy="1872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78" name="Google Shape;178;g3eb424d488f_0_11"/>
          <p:cNvCxnSpPr/>
          <p:nvPr/>
        </p:nvCxnSpPr>
        <p:spPr>
          <a:xfrm>
            <a:off x="1028700" y="9490751"/>
            <a:ext cx="16230600" cy="0"/>
          </a:xfrm>
          <a:prstGeom prst="straightConnector1">
            <a:avLst/>
          </a:prstGeom>
          <a:noFill/>
          <a:ln cap="flat" cmpd="sng" w="38100">
            <a:solidFill>
              <a:srgbClr val="FFFFFF"/>
            </a:solidFill>
            <a:prstDash val="solid"/>
            <a:round/>
            <a:headEnd len="sm" w="sm" type="none"/>
            <a:tailEnd len="sm" w="sm" type="none"/>
          </a:ln>
        </p:spPr>
      </p:cxnSp>
      <p:sp>
        <p:nvSpPr>
          <p:cNvPr id="179" name="Google Shape;179;g3eb424d488f_0_11"/>
          <p:cNvSpPr txBox="1"/>
          <p:nvPr/>
        </p:nvSpPr>
        <p:spPr>
          <a:xfrm>
            <a:off x="983100" y="1558736"/>
            <a:ext cx="15331500" cy="1215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7900">
                <a:solidFill>
                  <a:srgbClr val="D0C1AA"/>
                </a:solidFill>
                <a:latin typeface="Play"/>
                <a:ea typeface="Play"/>
                <a:cs typeface="Play"/>
                <a:sym typeface="Play"/>
              </a:rPr>
              <a:t>Cleaning</a:t>
            </a:r>
            <a:endParaRPr sz="100"/>
          </a:p>
        </p:txBody>
      </p:sp>
      <p:sp>
        <p:nvSpPr>
          <p:cNvPr id="180" name="Google Shape;180;g3eb424d488f_0_11"/>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Introduction</a:t>
            </a:r>
            <a:endParaRPr>
              <a:solidFill>
                <a:schemeClr val="lt1"/>
              </a:solidFill>
            </a:endParaRPr>
          </a:p>
        </p:txBody>
      </p:sp>
      <p:sp>
        <p:nvSpPr>
          <p:cNvPr id="181" name="Google Shape;181;g3eb424d488f_0_11"/>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1" lang="en-US" sz="2051">
                <a:solidFill>
                  <a:srgbClr val="D0C1AA"/>
                </a:solidFill>
              </a:rPr>
              <a:t>Dataset and Cleaning</a:t>
            </a:r>
            <a:endParaRPr b="1">
              <a:solidFill>
                <a:srgbClr val="D0C1AA"/>
              </a:solidFill>
            </a:endParaRPr>
          </a:p>
        </p:txBody>
      </p:sp>
      <p:sp>
        <p:nvSpPr>
          <p:cNvPr id="182" name="Google Shape;182;g3eb424d488f_0_11"/>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Model</a:t>
            </a:r>
            <a:endParaRPr>
              <a:solidFill>
                <a:schemeClr val="lt1"/>
              </a:solidFill>
            </a:endParaRPr>
          </a:p>
        </p:txBody>
      </p:sp>
      <p:sp>
        <p:nvSpPr>
          <p:cNvPr id="183" name="Google Shape;183;g3eb424d488f_0_11"/>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chemeClr val="lt1"/>
                </a:solidFill>
              </a:rPr>
              <a:t>NSDC</a:t>
            </a:r>
            <a:endParaRPr>
              <a:solidFill>
                <a:schemeClr val="lt1"/>
              </a:solidFill>
            </a:endParaRPr>
          </a:p>
        </p:txBody>
      </p:sp>
      <p:sp>
        <p:nvSpPr>
          <p:cNvPr id="184" name="Google Shape;184;g3eb424d488f_0_11"/>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Conclusion</a:t>
            </a:r>
            <a:endParaRPr>
              <a:solidFill>
                <a:schemeClr val="lt1"/>
              </a:solidFill>
            </a:endParaRPr>
          </a:p>
        </p:txBody>
      </p:sp>
      <p:sp>
        <p:nvSpPr>
          <p:cNvPr id="185" name="Google Shape;185;g3eb424d488f_0_11"/>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Evaluation</a:t>
            </a:r>
            <a:endParaRPr>
              <a:solidFill>
                <a:schemeClr val="lt1"/>
              </a:solidFill>
            </a:endParaRPr>
          </a:p>
        </p:txBody>
      </p:sp>
      <p:sp>
        <p:nvSpPr>
          <p:cNvPr id="186" name="Google Shape;186;g3eb424d488f_0_11"/>
          <p:cNvSpPr txBox="1"/>
          <p:nvPr/>
        </p:nvSpPr>
        <p:spPr>
          <a:xfrm>
            <a:off x="1028700" y="2869850"/>
            <a:ext cx="7797900" cy="6206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100">
                <a:solidFill>
                  <a:srgbClr val="FFFFFF"/>
                </a:solidFill>
              </a:rPr>
              <a:t>Our Cleaning Process:</a:t>
            </a:r>
            <a:endParaRPr b="1" sz="2100">
              <a:solidFill>
                <a:srgbClr val="FFFFFF"/>
              </a:solidFill>
            </a:endParaRPr>
          </a:p>
          <a:p>
            <a:pPr indent="-361950" lvl="0" marL="457200" marR="0" rtl="0" algn="l">
              <a:lnSpc>
                <a:spcPct val="140000"/>
              </a:lnSpc>
              <a:spcBef>
                <a:spcPts val="0"/>
              </a:spcBef>
              <a:spcAft>
                <a:spcPts val="0"/>
              </a:spcAft>
              <a:buClr>
                <a:srgbClr val="FFFFFF"/>
              </a:buClr>
              <a:buSzPts val="2100"/>
              <a:buChar char="●"/>
            </a:pPr>
            <a:r>
              <a:rPr lang="en-US" sz="2100">
                <a:solidFill>
                  <a:srgbClr val="FFFFFF"/>
                </a:solidFill>
              </a:rPr>
              <a:t>We began with removing irrelevant or non-fashion categories such as makeup, accessories, and even curtain rods. We ended up removing around 261 categories </a:t>
            </a:r>
            <a:endParaRPr sz="2100">
              <a:solidFill>
                <a:srgbClr val="FFFFFF"/>
              </a:solidFill>
            </a:endParaRPr>
          </a:p>
          <a:p>
            <a:pPr indent="-361950" lvl="0" marL="457200" marR="0" rtl="0" algn="l">
              <a:lnSpc>
                <a:spcPct val="140000"/>
              </a:lnSpc>
              <a:spcBef>
                <a:spcPts val="0"/>
              </a:spcBef>
              <a:spcAft>
                <a:spcPts val="0"/>
              </a:spcAft>
              <a:buClr>
                <a:srgbClr val="FFFFFF"/>
              </a:buClr>
              <a:buSzPts val="2100"/>
              <a:buChar char="●"/>
            </a:pPr>
            <a:r>
              <a:rPr lang="en-US" sz="2100">
                <a:solidFill>
                  <a:srgbClr val="FFFFFF"/>
                </a:solidFill>
              </a:rPr>
              <a:t>Secondly, we consolidated categories into broader labels such as Shoes, Jeans, Dress:</a:t>
            </a:r>
            <a:endParaRPr sz="2100">
              <a:solidFill>
                <a:srgbClr val="FFFFFF"/>
              </a:solidFill>
            </a:endParaRPr>
          </a:p>
          <a:p>
            <a:pPr indent="-361950" lvl="2" marL="1371600" marR="0" rtl="0" algn="l">
              <a:lnSpc>
                <a:spcPct val="140000"/>
              </a:lnSpc>
              <a:spcBef>
                <a:spcPts val="0"/>
              </a:spcBef>
              <a:spcAft>
                <a:spcPts val="0"/>
              </a:spcAft>
              <a:buClr>
                <a:srgbClr val="FFFFFF"/>
              </a:buClr>
              <a:buSzPts val="2100"/>
              <a:buChar char="■"/>
            </a:pPr>
            <a:r>
              <a:rPr lang="en-US" sz="2100">
                <a:solidFill>
                  <a:srgbClr val="FFFFFF"/>
                </a:solidFill>
              </a:rPr>
              <a:t>Ex.  'Boyfriend Jeans' → ‘Jeans',                         </a:t>
            </a:r>
            <a:endParaRPr sz="2100">
              <a:solidFill>
                <a:srgbClr val="FFFFFF"/>
              </a:solidFill>
            </a:endParaRPr>
          </a:p>
          <a:p>
            <a:pPr indent="0" lvl="0" marL="1371600" marR="0" rtl="0" algn="l">
              <a:lnSpc>
                <a:spcPct val="140000"/>
              </a:lnSpc>
              <a:spcBef>
                <a:spcPts val="0"/>
              </a:spcBef>
              <a:spcAft>
                <a:spcPts val="0"/>
              </a:spcAft>
              <a:buNone/>
            </a:pPr>
            <a:r>
              <a:rPr lang="en-US" sz="2100">
                <a:solidFill>
                  <a:srgbClr val="FFFFFF"/>
                </a:solidFill>
              </a:rPr>
              <a:t>'Knee Length Skirts’ → ‘Skirts, ‘Jumpsuit’ → ‘Dress’</a:t>
            </a:r>
            <a:endParaRPr sz="2100">
              <a:solidFill>
                <a:srgbClr val="FFFFFF"/>
              </a:solidFill>
            </a:endParaRPr>
          </a:p>
          <a:p>
            <a:pPr indent="-361950" lvl="0" marL="457200" rtl="0" algn="l">
              <a:lnSpc>
                <a:spcPct val="140000"/>
              </a:lnSpc>
              <a:spcBef>
                <a:spcPts val="0"/>
              </a:spcBef>
              <a:spcAft>
                <a:spcPts val="0"/>
              </a:spcAft>
              <a:buClr>
                <a:schemeClr val="lt1"/>
              </a:buClr>
              <a:buSzPts val="2100"/>
              <a:buChar char="●"/>
            </a:pPr>
            <a:r>
              <a:rPr lang="en-US" sz="2100">
                <a:solidFill>
                  <a:schemeClr val="lt1"/>
                </a:solidFill>
              </a:rPr>
              <a:t>Lastly, we created a subcategory column using the item descriptions and original category labels. This helped keep more detail, such as “Wide Leg Jeans” or “Ankle Boots,” while still grouping items under broader categories like “Jeans” or “Shoes.” This allowed the model to learn more specific clothing combinations without making the data too messy.</a:t>
            </a:r>
            <a:endParaRPr sz="2100">
              <a:solidFill>
                <a:srgbClr val="FFFFFF"/>
              </a:solidFill>
            </a:endParaRPr>
          </a:p>
        </p:txBody>
      </p:sp>
      <p:pic>
        <p:nvPicPr>
          <p:cNvPr id="187" name="Google Shape;187;g3eb424d488f_0_11" title="Screenshot 2026-05-28 at 12.31.50 AM.png"/>
          <p:cNvPicPr preferRelativeResize="0"/>
          <p:nvPr/>
        </p:nvPicPr>
        <p:blipFill rotWithShape="1">
          <a:blip r:embed="rId4">
            <a:alphaModFix/>
          </a:blip>
          <a:srcRect b="0" l="0" r="0" t="980"/>
          <a:stretch/>
        </p:blipFill>
        <p:spPr>
          <a:xfrm>
            <a:off x="9080500" y="3167863"/>
            <a:ext cx="8794351" cy="5929650"/>
          </a:xfrm>
          <a:prstGeom prst="rect">
            <a:avLst/>
          </a:prstGeom>
          <a:noFill/>
          <a:ln cap="flat" cmpd="sng" w="38100">
            <a:solidFill>
              <a:schemeClr val="lt1"/>
            </a:solidFill>
            <a:prstDash val="solid"/>
            <a:round/>
            <a:headEnd len="sm" w="sm" type="none"/>
            <a:tailEnd len="sm" w="sm" type="none"/>
          </a:ln>
        </p:spPr>
      </p:pic>
      <p:sp>
        <p:nvSpPr>
          <p:cNvPr id="188" name="Google Shape;188;g3eb424d488f_0_11"/>
          <p:cNvSpPr txBox="1"/>
          <p:nvPr/>
        </p:nvSpPr>
        <p:spPr>
          <a:xfrm>
            <a:off x="15730237" y="894086"/>
            <a:ext cx="1421400" cy="3078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2A2D2C"/>
                </a:solidFill>
                <a:latin typeface="Arial"/>
                <a:ea typeface="Arial"/>
                <a:cs typeface="Arial"/>
                <a:sym typeface="Arial"/>
              </a:rPr>
              <a:t>Page 0</a:t>
            </a:r>
            <a:r>
              <a:rPr b="1" lang="en-US" sz="1999">
                <a:solidFill>
                  <a:srgbClr val="2A2D2C"/>
                </a:solidFill>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91401"/>
        </a:solidFill>
      </p:bgPr>
    </p:bg>
    <p:spTree>
      <p:nvGrpSpPr>
        <p:cNvPr id="192" name="Shape 192"/>
        <p:cNvGrpSpPr/>
        <p:nvPr/>
      </p:nvGrpSpPr>
      <p:grpSpPr>
        <a:xfrm>
          <a:off x="0" y="0"/>
          <a:ext cx="0" cy="0"/>
          <a:chOff x="0" y="0"/>
          <a:chExt cx="0" cy="0"/>
        </a:xfrm>
      </p:grpSpPr>
      <p:grpSp>
        <p:nvGrpSpPr>
          <p:cNvPr id="193" name="Google Shape;193;p4"/>
          <p:cNvGrpSpPr/>
          <p:nvPr/>
        </p:nvGrpSpPr>
        <p:grpSpPr>
          <a:xfrm>
            <a:off x="-1143000" y="0"/>
            <a:ext cx="20574000" cy="10287000"/>
            <a:chOff x="0" y="0"/>
            <a:chExt cx="27432000" cy="13716000"/>
          </a:xfrm>
        </p:grpSpPr>
        <p:sp>
          <p:nvSpPr>
            <p:cNvPr id="194" name="Google Shape;194;p4"/>
            <p:cNvSpPr/>
            <p:nvPr/>
          </p:nvSpPr>
          <p:spPr>
            <a:xfrm>
              <a:off x="20574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95" name="Google Shape;195;p4"/>
            <p:cNvSpPr/>
            <p:nvPr/>
          </p:nvSpPr>
          <p:spPr>
            <a:xfrm>
              <a:off x="20574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96" name="Google Shape;196;p4"/>
            <p:cNvSpPr/>
            <p:nvPr/>
          </p:nvSpPr>
          <p:spPr>
            <a:xfrm>
              <a:off x="13716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97" name="Google Shape;197;p4"/>
            <p:cNvSpPr/>
            <p:nvPr/>
          </p:nvSpPr>
          <p:spPr>
            <a:xfrm>
              <a:off x="13716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98" name="Google Shape;198;p4"/>
            <p:cNvSpPr/>
            <p:nvPr/>
          </p:nvSpPr>
          <p:spPr>
            <a:xfrm>
              <a:off x="6858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199" name="Google Shape;199;p4"/>
            <p:cNvSpPr/>
            <p:nvPr/>
          </p:nvSpPr>
          <p:spPr>
            <a:xfrm>
              <a:off x="6858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00" name="Google Shape;200;p4"/>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01" name="Google Shape;201;p4"/>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grpSp>
      <p:grpSp>
        <p:nvGrpSpPr>
          <p:cNvPr id="202" name="Google Shape;202;p4"/>
          <p:cNvGrpSpPr/>
          <p:nvPr/>
        </p:nvGrpSpPr>
        <p:grpSpPr>
          <a:xfrm>
            <a:off x="15481173" y="613779"/>
            <a:ext cx="1919443" cy="711198"/>
            <a:chOff x="-2" y="-38100"/>
            <a:chExt cx="505529" cy="187310"/>
          </a:xfrm>
        </p:grpSpPr>
        <p:sp>
          <p:nvSpPr>
            <p:cNvPr id="203" name="Google Shape;203;p4"/>
            <p:cNvSpPr/>
            <p:nvPr/>
          </p:nvSpPr>
          <p:spPr>
            <a:xfrm>
              <a:off x="-2"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79140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4"/>
            <p:cNvSpPr txBox="1"/>
            <p:nvPr/>
          </p:nvSpPr>
          <p:spPr>
            <a:xfrm>
              <a:off x="0" y="-38100"/>
              <a:ext cx="505500" cy="1872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5" name="Google Shape;205;p4"/>
          <p:cNvSpPr/>
          <p:nvPr/>
        </p:nvSpPr>
        <p:spPr>
          <a:xfrm>
            <a:off x="0" y="0"/>
            <a:ext cx="18290119" cy="2984704"/>
          </a:xfrm>
          <a:custGeom>
            <a:rect b="b" l="l" r="r" t="t"/>
            <a:pathLst>
              <a:path extrusionOk="0" h="2545590" w="2564335">
                <a:moveTo>
                  <a:pt x="0" y="0"/>
                </a:moveTo>
                <a:lnTo>
                  <a:pt x="2564335" y="0"/>
                </a:lnTo>
                <a:lnTo>
                  <a:pt x="2564335" y="2545590"/>
                </a:lnTo>
                <a:lnTo>
                  <a:pt x="0" y="2545590"/>
                </a:lnTo>
                <a:close/>
              </a:path>
            </a:pathLst>
          </a:custGeom>
          <a:blipFill rotWithShape="1">
            <a:blip r:embed="rId4">
              <a:alphaModFix/>
            </a:blip>
            <a:stretch>
              <a:fillRect b="0" l="-24498" r="-24498" t="0"/>
            </a:stretch>
          </a:blipFill>
          <a:ln>
            <a:noFill/>
          </a:ln>
        </p:spPr>
      </p:sp>
      <p:sp>
        <p:nvSpPr>
          <p:cNvPr id="206" name="Google Shape;206;p4"/>
          <p:cNvSpPr txBox="1"/>
          <p:nvPr/>
        </p:nvSpPr>
        <p:spPr>
          <a:xfrm>
            <a:off x="577150" y="1508050"/>
            <a:ext cx="12827400" cy="138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9000">
                <a:solidFill>
                  <a:srgbClr val="791401"/>
                </a:solidFill>
                <a:latin typeface="Play"/>
                <a:ea typeface="Play"/>
                <a:cs typeface="Play"/>
                <a:sym typeface="Play"/>
              </a:rPr>
              <a:t>Our Modeling Process</a:t>
            </a:r>
            <a:endParaRPr sz="100"/>
          </a:p>
        </p:txBody>
      </p:sp>
      <p:sp>
        <p:nvSpPr>
          <p:cNvPr id="207" name="Google Shape;207;p4"/>
          <p:cNvSpPr txBox="1"/>
          <p:nvPr/>
        </p:nvSpPr>
        <p:spPr>
          <a:xfrm>
            <a:off x="7049304" y="2327914"/>
            <a:ext cx="10209900" cy="215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t/>
            </a:r>
            <a:endParaRPr/>
          </a:p>
        </p:txBody>
      </p:sp>
      <p:sp>
        <p:nvSpPr>
          <p:cNvPr id="208" name="Google Shape;208;p4"/>
          <p:cNvSpPr txBox="1"/>
          <p:nvPr/>
        </p:nvSpPr>
        <p:spPr>
          <a:xfrm>
            <a:off x="577150" y="3429000"/>
            <a:ext cx="9373500" cy="5753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100">
                <a:solidFill>
                  <a:srgbClr val="FFFFFF"/>
                </a:solidFill>
              </a:rPr>
              <a:t>We decided to build two models so we could first create a strong foundation and then improve on it. </a:t>
            </a:r>
            <a:endParaRPr sz="2100">
              <a:solidFill>
                <a:srgbClr val="FFFFFF"/>
              </a:solidFill>
            </a:endParaRPr>
          </a:p>
          <a:p>
            <a:pPr indent="-361950" lvl="0" marL="457200" marR="0" rtl="0" algn="l">
              <a:lnSpc>
                <a:spcPct val="140000"/>
              </a:lnSpc>
              <a:spcBef>
                <a:spcPts val="0"/>
              </a:spcBef>
              <a:spcAft>
                <a:spcPts val="0"/>
              </a:spcAft>
              <a:buClr>
                <a:srgbClr val="FFFFFF"/>
              </a:buClr>
              <a:buSzPts val="2100"/>
              <a:buChar char="●"/>
            </a:pPr>
            <a:r>
              <a:rPr lang="en-US" sz="2100">
                <a:solidFill>
                  <a:srgbClr val="FFFFFF"/>
                </a:solidFill>
              </a:rPr>
              <a:t>Model 1 is a category-based co-occurrence recommender that learns which clothing categories commonly appear together in outfits. This gives the model a simple baseline for understanding outfit patterns. </a:t>
            </a:r>
            <a:endParaRPr sz="2100">
              <a:solidFill>
                <a:srgbClr val="FFFFFF"/>
              </a:solidFill>
            </a:endParaRPr>
          </a:p>
          <a:p>
            <a:pPr indent="-361950" lvl="0" marL="457200" marR="0" rtl="0" algn="l">
              <a:lnSpc>
                <a:spcPct val="140000"/>
              </a:lnSpc>
              <a:spcBef>
                <a:spcPts val="0"/>
              </a:spcBef>
              <a:spcAft>
                <a:spcPts val="0"/>
              </a:spcAft>
              <a:buClr>
                <a:srgbClr val="FFFFFF"/>
              </a:buClr>
              <a:buSzPts val="2100"/>
              <a:buChar char="●"/>
            </a:pPr>
            <a:r>
              <a:rPr lang="en-US" sz="2100">
                <a:solidFill>
                  <a:srgbClr val="FFFFFF"/>
                </a:solidFill>
              </a:rPr>
              <a:t>Model 2 builds on that idea by using more detailed information, such as category and subcategory, to make recommendations that are not only structurally correct, but also more visually and stylistically </a:t>
            </a:r>
            <a:r>
              <a:rPr lang="en-US" sz="2100">
                <a:solidFill>
                  <a:srgbClr val="FFFFFF"/>
                </a:solidFill>
              </a:rPr>
              <a:t>compatible</a:t>
            </a:r>
            <a:r>
              <a:rPr lang="en-US" sz="2100">
                <a:solidFill>
                  <a:srgbClr val="FFFFFF"/>
                </a:solidFill>
              </a:rPr>
              <a:t>.</a:t>
            </a:r>
            <a:endParaRPr sz="2100">
              <a:solidFill>
                <a:srgbClr val="FFFFFF"/>
              </a:solidFill>
            </a:endParaRPr>
          </a:p>
          <a:p>
            <a:pPr indent="0" lvl="0" marL="0" marR="0" rtl="0" algn="l">
              <a:lnSpc>
                <a:spcPct val="140000"/>
              </a:lnSpc>
              <a:spcBef>
                <a:spcPts val="0"/>
              </a:spcBef>
              <a:spcAft>
                <a:spcPts val="0"/>
              </a:spcAft>
              <a:buNone/>
            </a:pPr>
            <a:r>
              <a:rPr lang="en-US" sz="2100">
                <a:solidFill>
                  <a:srgbClr val="FFFFFF"/>
                </a:solidFill>
              </a:rPr>
              <a:t>Model 1:</a:t>
            </a:r>
            <a:endParaRPr sz="2100">
              <a:solidFill>
                <a:srgbClr val="FFFFFF"/>
              </a:solidFill>
            </a:endParaRPr>
          </a:p>
          <a:p>
            <a:pPr indent="0" lvl="0" marL="0" marR="0" rtl="0" algn="l">
              <a:lnSpc>
                <a:spcPct val="140000"/>
              </a:lnSpc>
              <a:spcBef>
                <a:spcPts val="0"/>
              </a:spcBef>
              <a:spcAft>
                <a:spcPts val="0"/>
              </a:spcAft>
              <a:buNone/>
            </a:pPr>
            <a:r>
              <a:t/>
            </a:r>
            <a:endParaRPr sz="2100">
              <a:solidFill>
                <a:srgbClr val="FFFFFF"/>
              </a:solidFill>
            </a:endParaRPr>
          </a:p>
          <a:p>
            <a:pPr indent="0" lvl="0" marL="0" marR="0" rtl="0" algn="l">
              <a:lnSpc>
                <a:spcPct val="140000"/>
              </a:lnSpc>
              <a:spcBef>
                <a:spcPts val="0"/>
              </a:spcBef>
              <a:spcAft>
                <a:spcPts val="0"/>
              </a:spcAft>
              <a:buNone/>
            </a:pPr>
            <a:r>
              <a:t/>
            </a:r>
            <a:endParaRPr sz="2100">
              <a:solidFill>
                <a:srgbClr val="FFFFFF"/>
              </a:solidFill>
            </a:endParaRPr>
          </a:p>
          <a:p>
            <a:pPr indent="0" lvl="0" marL="0" marR="0" rtl="0" algn="l">
              <a:lnSpc>
                <a:spcPct val="140000"/>
              </a:lnSpc>
              <a:spcBef>
                <a:spcPts val="0"/>
              </a:spcBef>
              <a:spcAft>
                <a:spcPts val="0"/>
              </a:spcAft>
              <a:buNone/>
            </a:pPr>
            <a:r>
              <a:rPr lang="en-US" sz="2100">
                <a:solidFill>
                  <a:srgbClr val="FFFFFF"/>
                </a:solidFill>
              </a:rPr>
              <a:t>Model 2:</a:t>
            </a:r>
            <a:endParaRPr sz="2100">
              <a:solidFill>
                <a:srgbClr val="FFFFFF"/>
              </a:solidFill>
            </a:endParaRPr>
          </a:p>
          <a:p>
            <a:pPr indent="0" lvl="0" marL="0" marR="0" rtl="0" algn="l">
              <a:lnSpc>
                <a:spcPct val="140000"/>
              </a:lnSpc>
              <a:spcBef>
                <a:spcPts val="0"/>
              </a:spcBef>
              <a:spcAft>
                <a:spcPts val="0"/>
              </a:spcAft>
              <a:buNone/>
            </a:pPr>
            <a:r>
              <a:t/>
            </a:r>
            <a:endParaRPr sz="2100">
              <a:solidFill>
                <a:srgbClr val="FFFFFF"/>
              </a:solidFill>
            </a:endParaRPr>
          </a:p>
        </p:txBody>
      </p:sp>
      <p:sp>
        <p:nvSpPr>
          <p:cNvPr id="209" name="Google Shape;209;p4"/>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Introduction</a:t>
            </a:r>
            <a:endParaRPr/>
          </a:p>
        </p:txBody>
      </p:sp>
      <p:sp>
        <p:nvSpPr>
          <p:cNvPr id="210" name="Google Shape;210;p4"/>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Dataset and Cleaning</a:t>
            </a:r>
            <a:endParaRPr>
              <a:solidFill>
                <a:srgbClr val="2A2D2C"/>
              </a:solidFill>
            </a:endParaRPr>
          </a:p>
        </p:txBody>
      </p:sp>
      <p:sp>
        <p:nvSpPr>
          <p:cNvPr id="211" name="Google Shape;211;p4"/>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1" lang="en-US" sz="2051">
                <a:solidFill>
                  <a:srgbClr val="791401"/>
                </a:solidFill>
              </a:rPr>
              <a:t>Model</a:t>
            </a:r>
            <a:endParaRPr b="1">
              <a:solidFill>
                <a:srgbClr val="791401"/>
              </a:solidFill>
            </a:endParaRPr>
          </a:p>
        </p:txBody>
      </p:sp>
      <p:sp>
        <p:nvSpPr>
          <p:cNvPr id="212" name="Google Shape;212;p4"/>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rgbClr val="2A2D2C"/>
                </a:solidFill>
              </a:rPr>
              <a:t>NSDC</a:t>
            </a:r>
            <a:endParaRPr/>
          </a:p>
        </p:txBody>
      </p:sp>
      <p:sp>
        <p:nvSpPr>
          <p:cNvPr id="213" name="Google Shape;213;p4"/>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 </a:t>
            </a:r>
            <a:r>
              <a:rPr lang="en-US" sz="2051">
                <a:solidFill>
                  <a:srgbClr val="2A2D2C"/>
                </a:solidFill>
              </a:rPr>
              <a:t>Demo</a:t>
            </a:r>
            <a:endParaRPr>
              <a:solidFill>
                <a:srgbClr val="2A2D2C"/>
              </a:solidFill>
            </a:endParaRPr>
          </a:p>
        </p:txBody>
      </p:sp>
      <p:sp>
        <p:nvSpPr>
          <p:cNvPr id="214" name="Google Shape;214;p4"/>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Evaluation</a:t>
            </a:r>
            <a:endParaRPr>
              <a:solidFill>
                <a:srgbClr val="2A2D2C"/>
              </a:solidFill>
            </a:endParaRPr>
          </a:p>
        </p:txBody>
      </p:sp>
      <p:pic>
        <p:nvPicPr>
          <p:cNvPr id="215" name="Google Shape;215;p4" title="Screenshot 2026-05-28 at 1.24.57 AM.png"/>
          <p:cNvPicPr preferRelativeResize="0"/>
          <p:nvPr/>
        </p:nvPicPr>
        <p:blipFill>
          <a:blip r:embed="rId5">
            <a:alphaModFix/>
          </a:blip>
          <a:stretch>
            <a:fillRect/>
          </a:stretch>
        </p:blipFill>
        <p:spPr>
          <a:xfrm>
            <a:off x="577162" y="7472950"/>
            <a:ext cx="12724716" cy="711200"/>
          </a:xfrm>
          <a:prstGeom prst="rect">
            <a:avLst/>
          </a:prstGeom>
          <a:noFill/>
          <a:ln cap="flat" cmpd="sng" w="38100">
            <a:solidFill>
              <a:schemeClr val="lt1"/>
            </a:solidFill>
            <a:prstDash val="solid"/>
            <a:round/>
            <a:headEnd len="sm" w="sm" type="none"/>
            <a:tailEnd len="sm" w="sm" type="none"/>
          </a:ln>
        </p:spPr>
      </p:pic>
      <p:pic>
        <p:nvPicPr>
          <p:cNvPr id="216" name="Google Shape;216;p4" title="Screenshot 2026-05-28 at 1.26.14 AM.png"/>
          <p:cNvPicPr preferRelativeResize="0"/>
          <p:nvPr/>
        </p:nvPicPr>
        <p:blipFill>
          <a:blip r:embed="rId6">
            <a:alphaModFix/>
          </a:blip>
          <a:stretch>
            <a:fillRect/>
          </a:stretch>
        </p:blipFill>
        <p:spPr>
          <a:xfrm>
            <a:off x="577150" y="8745625"/>
            <a:ext cx="12724724" cy="757204"/>
          </a:xfrm>
          <a:prstGeom prst="rect">
            <a:avLst/>
          </a:prstGeom>
          <a:noFill/>
          <a:ln cap="flat" cmpd="sng" w="38100">
            <a:solidFill>
              <a:schemeClr val="lt1"/>
            </a:solidFill>
            <a:prstDash val="solid"/>
            <a:round/>
            <a:headEnd len="sm" w="sm" type="none"/>
            <a:tailEnd len="sm" w="sm" type="none"/>
          </a:ln>
        </p:spPr>
      </p:pic>
      <p:pic>
        <p:nvPicPr>
          <p:cNvPr id="217" name="Google Shape;217;p4"/>
          <p:cNvPicPr preferRelativeResize="0"/>
          <p:nvPr/>
        </p:nvPicPr>
        <p:blipFill>
          <a:blip r:embed="rId7">
            <a:alphaModFix/>
          </a:blip>
          <a:stretch>
            <a:fillRect/>
          </a:stretch>
        </p:blipFill>
        <p:spPr>
          <a:xfrm>
            <a:off x="15947400" y="3375982"/>
            <a:ext cx="2235300" cy="2513043"/>
          </a:xfrm>
          <a:prstGeom prst="rect">
            <a:avLst/>
          </a:prstGeom>
          <a:noFill/>
          <a:ln>
            <a:noFill/>
          </a:ln>
        </p:spPr>
      </p:pic>
      <p:pic>
        <p:nvPicPr>
          <p:cNvPr id="218" name="Google Shape;218;p4"/>
          <p:cNvPicPr preferRelativeResize="0"/>
          <p:nvPr/>
        </p:nvPicPr>
        <p:blipFill>
          <a:blip r:embed="rId8">
            <a:alphaModFix/>
          </a:blip>
          <a:stretch>
            <a:fillRect/>
          </a:stretch>
        </p:blipFill>
        <p:spPr>
          <a:xfrm>
            <a:off x="13030700" y="3363500"/>
            <a:ext cx="2764098" cy="3300625"/>
          </a:xfrm>
          <a:prstGeom prst="rect">
            <a:avLst/>
          </a:prstGeom>
          <a:noFill/>
          <a:ln>
            <a:noFill/>
          </a:ln>
        </p:spPr>
      </p:pic>
      <p:pic>
        <p:nvPicPr>
          <p:cNvPr id="219" name="Google Shape;219;p4"/>
          <p:cNvPicPr preferRelativeResize="0"/>
          <p:nvPr/>
        </p:nvPicPr>
        <p:blipFill>
          <a:blip r:embed="rId9">
            <a:alphaModFix/>
          </a:blip>
          <a:stretch>
            <a:fillRect/>
          </a:stretch>
        </p:blipFill>
        <p:spPr>
          <a:xfrm>
            <a:off x="10422926" y="3354999"/>
            <a:ext cx="2455175" cy="3300626"/>
          </a:xfrm>
          <a:prstGeom prst="rect">
            <a:avLst/>
          </a:prstGeom>
          <a:noFill/>
          <a:ln>
            <a:noFill/>
          </a:ln>
        </p:spPr>
      </p:pic>
      <p:sp>
        <p:nvSpPr>
          <p:cNvPr id="220" name="Google Shape;220;p4"/>
          <p:cNvSpPr txBox="1"/>
          <p:nvPr/>
        </p:nvSpPr>
        <p:spPr>
          <a:xfrm>
            <a:off x="10422925" y="6721675"/>
            <a:ext cx="8047500" cy="5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lt1"/>
                </a:solidFill>
              </a:rPr>
              <a:t>Model 1 Outfit generated for input: ‘Jeans’</a:t>
            </a:r>
            <a:endParaRPr sz="2100">
              <a:solidFill>
                <a:schemeClr val="lt1"/>
              </a:solidFill>
            </a:endParaRPr>
          </a:p>
        </p:txBody>
      </p:sp>
      <p:grpSp>
        <p:nvGrpSpPr>
          <p:cNvPr id="221" name="Google Shape;221;p4"/>
          <p:cNvGrpSpPr/>
          <p:nvPr/>
        </p:nvGrpSpPr>
        <p:grpSpPr>
          <a:xfrm>
            <a:off x="15481173" y="613779"/>
            <a:ext cx="1919443" cy="711198"/>
            <a:chOff x="-2" y="-38100"/>
            <a:chExt cx="505529" cy="187310"/>
          </a:xfrm>
        </p:grpSpPr>
        <p:sp>
          <p:nvSpPr>
            <p:cNvPr id="222" name="Google Shape;222;p4"/>
            <p:cNvSpPr/>
            <p:nvPr/>
          </p:nvSpPr>
          <p:spPr>
            <a:xfrm>
              <a:off x="-2"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79140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4"/>
            <p:cNvSpPr txBox="1"/>
            <p:nvPr/>
          </p:nvSpPr>
          <p:spPr>
            <a:xfrm>
              <a:off x="0" y="-38100"/>
              <a:ext cx="505500" cy="1872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4"/>
          <p:cNvSpPr txBox="1"/>
          <p:nvPr/>
        </p:nvSpPr>
        <p:spPr>
          <a:xfrm>
            <a:off x="15730252" y="894085"/>
            <a:ext cx="1421400" cy="307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i="0" lang="en-US" sz="1999" u="none" strike="noStrike">
                <a:solidFill>
                  <a:srgbClr val="FFFFFF"/>
                </a:solidFill>
                <a:latin typeface="Arial"/>
                <a:ea typeface="Arial"/>
                <a:cs typeface="Arial"/>
                <a:sym typeface="Arial"/>
              </a:rPr>
              <a:t>Page 05</a:t>
            </a:r>
            <a:endParaRPr b="1" i="0" sz="1999" u="none" strike="noStrike">
              <a:solidFill>
                <a:srgbClr val="FFFFFF"/>
              </a:solidFill>
              <a:latin typeface="Arial"/>
              <a:ea typeface="Arial"/>
              <a:cs typeface="Arial"/>
              <a:sym typeface="Arial"/>
            </a:endParaRPr>
          </a:p>
        </p:txBody>
      </p:sp>
      <p:cxnSp>
        <p:nvCxnSpPr>
          <p:cNvPr id="225" name="Google Shape;225;p4"/>
          <p:cNvCxnSpPr/>
          <p:nvPr/>
        </p:nvCxnSpPr>
        <p:spPr>
          <a:xfrm>
            <a:off x="596275" y="9772800"/>
            <a:ext cx="17104500" cy="360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91401"/>
        </a:solidFill>
      </p:bgPr>
    </p:bg>
    <p:spTree>
      <p:nvGrpSpPr>
        <p:cNvPr id="229" name="Shape 229"/>
        <p:cNvGrpSpPr/>
        <p:nvPr/>
      </p:nvGrpSpPr>
      <p:grpSpPr>
        <a:xfrm>
          <a:off x="0" y="0"/>
          <a:ext cx="0" cy="0"/>
          <a:chOff x="0" y="0"/>
          <a:chExt cx="0" cy="0"/>
        </a:xfrm>
      </p:grpSpPr>
      <p:grpSp>
        <p:nvGrpSpPr>
          <p:cNvPr id="230" name="Google Shape;230;p6"/>
          <p:cNvGrpSpPr/>
          <p:nvPr/>
        </p:nvGrpSpPr>
        <p:grpSpPr>
          <a:xfrm>
            <a:off x="-1143000" y="-148200"/>
            <a:ext cx="20574000" cy="10287000"/>
            <a:chOff x="0" y="0"/>
            <a:chExt cx="27432000" cy="13716000"/>
          </a:xfrm>
        </p:grpSpPr>
        <p:sp>
          <p:nvSpPr>
            <p:cNvPr id="231" name="Google Shape;231;p6"/>
            <p:cNvSpPr/>
            <p:nvPr/>
          </p:nvSpPr>
          <p:spPr>
            <a:xfrm>
              <a:off x="20574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32" name="Google Shape;232;p6"/>
            <p:cNvSpPr/>
            <p:nvPr/>
          </p:nvSpPr>
          <p:spPr>
            <a:xfrm>
              <a:off x="20574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33" name="Google Shape;233;p6"/>
            <p:cNvSpPr/>
            <p:nvPr/>
          </p:nvSpPr>
          <p:spPr>
            <a:xfrm>
              <a:off x="13716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34" name="Google Shape;234;p6"/>
            <p:cNvSpPr/>
            <p:nvPr/>
          </p:nvSpPr>
          <p:spPr>
            <a:xfrm>
              <a:off x="13716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35" name="Google Shape;235;p6"/>
            <p:cNvSpPr/>
            <p:nvPr/>
          </p:nvSpPr>
          <p:spPr>
            <a:xfrm>
              <a:off x="6858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36" name="Google Shape;236;p6"/>
            <p:cNvSpPr/>
            <p:nvPr/>
          </p:nvSpPr>
          <p:spPr>
            <a:xfrm>
              <a:off x="6858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37" name="Google Shape;237;p6"/>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38" name="Google Shape;238;p6"/>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grpSp>
      <p:grpSp>
        <p:nvGrpSpPr>
          <p:cNvPr id="239" name="Google Shape;239;p6"/>
          <p:cNvGrpSpPr/>
          <p:nvPr/>
        </p:nvGrpSpPr>
        <p:grpSpPr>
          <a:xfrm>
            <a:off x="15481179" y="613780"/>
            <a:ext cx="1919429" cy="711193"/>
            <a:chOff x="0" y="-38100"/>
            <a:chExt cx="505529" cy="187310"/>
          </a:xfrm>
        </p:grpSpPr>
        <p:sp>
          <p:nvSpPr>
            <p:cNvPr id="240" name="Google Shape;240;p6"/>
            <p:cNvSpPr/>
            <p:nvPr/>
          </p:nvSpPr>
          <p:spPr>
            <a:xfrm>
              <a:off x="0"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txBox="1"/>
            <p:nvPr/>
          </p:nvSpPr>
          <p:spPr>
            <a:xfrm>
              <a:off x="0" y="-38100"/>
              <a:ext cx="505529" cy="187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42" name="Google Shape;242;p6"/>
          <p:cNvCxnSpPr/>
          <p:nvPr/>
        </p:nvCxnSpPr>
        <p:spPr>
          <a:xfrm>
            <a:off x="1028700" y="9267825"/>
            <a:ext cx="16230600" cy="0"/>
          </a:xfrm>
          <a:prstGeom prst="straightConnector1">
            <a:avLst/>
          </a:prstGeom>
          <a:noFill/>
          <a:ln cap="flat" cmpd="sng" w="38100">
            <a:solidFill>
              <a:srgbClr val="FFFFFF"/>
            </a:solidFill>
            <a:prstDash val="solid"/>
            <a:round/>
            <a:headEnd len="sm" w="sm" type="none"/>
            <a:tailEnd len="sm" w="sm" type="none"/>
          </a:ln>
        </p:spPr>
      </p:cxnSp>
      <p:sp>
        <p:nvSpPr>
          <p:cNvPr id="243" name="Google Shape;243;p6"/>
          <p:cNvSpPr/>
          <p:nvPr/>
        </p:nvSpPr>
        <p:spPr>
          <a:xfrm>
            <a:off x="8273648" y="4079050"/>
            <a:ext cx="4910854" cy="4563194"/>
          </a:xfrm>
          <a:custGeom>
            <a:rect b="b" l="l" r="r" t="t"/>
            <a:pathLst>
              <a:path extrusionOk="0" h="706924" w="760783">
                <a:moveTo>
                  <a:pt x="0" y="0"/>
                </a:moveTo>
                <a:lnTo>
                  <a:pt x="760783" y="0"/>
                </a:lnTo>
                <a:lnTo>
                  <a:pt x="760783" y="706924"/>
                </a:lnTo>
                <a:lnTo>
                  <a:pt x="0" y="706924"/>
                </a:lnTo>
                <a:close/>
              </a:path>
            </a:pathLst>
          </a:custGeom>
          <a:blipFill rotWithShape="1">
            <a:blip r:embed="rId4">
              <a:alphaModFix/>
            </a:blip>
            <a:stretch>
              <a:fillRect b="-30614" l="0" r="0" t="-30614"/>
            </a:stretch>
          </a:blipFill>
          <a:ln>
            <a:noFill/>
          </a:ln>
        </p:spPr>
      </p:sp>
      <p:sp>
        <p:nvSpPr>
          <p:cNvPr id="244" name="Google Shape;244;p6"/>
          <p:cNvSpPr/>
          <p:nvPr/>
        </p:nvSpPr>
        <p:spPr>
          <a:xfrm flipH="1">
            <a:off x="13660294" y="4079050"/>
            <a:ext cx="4627706" cy="4563194"/>
          </a:xfrm>
          <a:custGeom>
            <a:rect b="b" l="l" r="r" t="t"/>
            <a:pathLst>
              <a:path extrusionOk="0" h="706924" w="716918">
                <a:moveTo>
                  <a:pt x="716918" y="0"/>
                </a:moveTo>
                <a:lnTo>
                  <a:pt x="0" y="0"/>
                </a:lnTo>
                <a:lnTo>
                  <a:pt x="0" y="706924"/>
                </a:lnTo>
                <a:lnTo>
                  <a:pt x="716918" y="706924"/>
                </a:lnTo>
                <a:close/>
              </a:path>
            </a:pathLst>
          </a:custGeom>
          <a:blipFill rotWithShape="1">
            <a:blip r:embed="rId5">
              <a:alphaModFix/>
            </a:blip>
            <a:stretch>
              <a:fillRect b="-17996" l="0" r="0" t="-34123"/>
            </a:stretch>
          </a:blipFill>
          <a:ln>
            <a:noFill/>
          </a:ln>
        </p:spPr>
      </p:sp>
      <p:sp>
        <p:nvSpPr>
          <p:cNvPr id="245" name="Google Shape;245;p6"/>
          <p:cNvSpPr txBox="1"/>
          <p:nvPr/>
        </p:nvSpPr>
        <p:spPr>
          <a:xfrm>
            <a:off x="8273648" y="2258121"/>
            <a:ext cx="8985600" cy="158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0300">
                <a:solidFill>
                  <a:srgbClr val="D0C1AA"/>
                </a:solidFill>
                <a:latin typeface="Play"/>
                <a:ea typeface="Play"/>
                <a:cs typeface="Play"/>
                <a:sym typeface="Play"/>
              </a:rPr>
              <a:t>Co-</a:t>
            </a:r>
            <a:r>
              <a:rPr b="1" lang="en-US" sz="10300">
                <a:solidFill>
                  <a:srgbClr val="D0C1AA"/>
                </a:solidFill>
                <a:latin typeface="Play"/>
                <a:ea typeface="Play"/>
                <a:cs typeface="Play"/>
                <a:sym typeface="Play"/>
              </a:rPr>
              <a:t>Occurrence</a:t>
            </a:r>
            <a:endParaRPr sz="1300"/>
          </a:p>
        </p:txBody>
      </p:sp>
      <p:sp>
        <p:nvSpPr>
          <p:cNvPr id="246" name="Google Shape;246;p6"/>
          <p:cNvSpPr txBox="1"/>
          <p:nvPr/>
        </p:nvSpPr>
        <p:spPr>
          <a:xfrm>
            <a:off x="15730199" y="891860"/>
            <a:ext cx="1421400" cy="3078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2A2D2C"/>
                </a:solidFill>
                <a:latin typeface="Arial"/>
                <a:ea typeface="Arial"/>
                <a:cs typeface="Arial"/>
                <a:sym typeface="Arial"/>
              </a:rPr>
              <a:t>Page 06</a:t>
            </a:r>
            <a:endParaRPr/>
          </a:p>
        </p:txBody>
      </p:sp>
      <p:sp>
        <p:nvSpPr>
          <p:cNvPr id="247" name="Google Shape;247;p6"/>
          <p:cNvSpPr txBox="1"/>
          <p:nvPr/>
        </p:nvSpPr>
        <p:spPr>
          <a:xfrm>
            <a:off x="361125" y="7645192"/>
            <a:ext cx="6767700" cy="3814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2100">
                <a:solidFill>
                  <a:srgbClr val="FFFFFF"/>
                </a:solidFill>
              </a:rPr>
              <a:t>Why Co - Occurrance? </a:t>
            </a:r>
            <a:endParaRPr sz="2100">
              <a:solidFill>
                <a:srgbClr val="FFFFFF"/>
              </a:solidFill>
            </a:endParaRPr>
          </a:p>
          <a:p>
            <a:pPr indent="-381000" lvl="0" marL="457200" marR="0" rtl="0" algn="just">
              <a:lnSpc>
                <a:spcPct val="140000"/>
              </a:lnSpc>
              <a:spcBef>
                <a:spcPts val="0"/>
              </a:spcBef>
              <a:spcAft>
                <a:spcPts val="0"/>
              </a:spcAft>
              <a:buClr>
                <a:srgbClr val="FFFFFF"/>
              </a:buClr>
              <a:buSzPts val="2400"/>
              <a:buChar char="●"/>
            </a:pPr>
            <a:r>
              <a:rPr lang="en-US" sz="2400">
                <a:solidFill>
                  <a:srgbClr val="FFFFFF"/>
                </a:solidFill>
              </a:rPr>
              <a:t>Learns outfit compatibility directly from data </a:t>
            </a:r>
            <a:endParaRPr sz="2400">
              <a:solidFill>
                <a:srgbClr val="FFFFFF"/>
              </a:solidFill>
            </a:endParaRPr>
          </a:p>
          <a:p>
            <a:pPr indent="-381000" lvl="0" marL="457200" marR="0" rtl="0" algn="just">
              <a:lnSpc>
                <a:spcPct val="140000"/>
              </a:lnSpc>
              <a:spcBef>
                <a:spcPts val="0"/>
              </a:spcBef>
              <a:spcAft>
                <a:spcPts val="0"/>
              </a:spcAft>
              <a:buClr>
                <a:srgbClr val="FFFFFF"/>
              </a:buClr>
              <a:buSzPts val="2400"/>
              <a:buChar char="●"/>
            </a:pPr>
            <a:r>
              <a:rPr lang="en-US" sz="2400">
                <a:solidFill>
                  <a:srgbClr val="FFFFFF"/>
                </a:solidFill>
              </a:rPr>
              <a:t>Based off real fashion pairing patterns </a:t>
            </a:r>
            <a:endParaRPr sz="2400">
              <a:solidFill>
                <a:srgbClr val="FFFFFF"/>
              </a:solidFill>
            </a:endParaRPr>
          </a:p>
          <a:p>
            <a:pPr indent="0" lvl="0" marL="457200" marR="0" rtl="0" algn="just">
              <a:lnSpc>
                <a:spcPct val="140000"/>
              </a:lnSpc>
              <a:spcBef>
                <a:spcPts val="0"/>
              </a:spcBef>
              <a:spcAft>
                <a:spcPts val="0"/>
              </a:spcAft>
              <a:buNone/>
            </a:pPr>
            <a:r>
              <a:t/>
            </a:r>
            <a:endParaRPr sz="2400">
              <a:solidFill>
                <a:srgbClr val="FFFFFF"/>
              </a:solidFill>
            </a:endParaRPr>
          </a:p>
          <a:p>
            <a:pPr indent="0" lvl="0" marL="0" marR="0" rtl="0" algn="just">
              <a:lnSpc>
                <a:spcPct val="140000"/>
              </a:lnSpc>
              <a:spcBef>
                <a:spcPts val="0"/>
              </a:spcBef>
              <a:spcAft>
                <a:spcPts val="0"/>
              </a:spcAft>
              <a:buNone/>
            </a:pPr>
            <a:r>
              <a:t/>
            </a:r>
            <a:endParaRPr sz="2400">
              <a:solidFill>
                <a:srgbClr val="FFFFFF"/>
              </a:solidFill>
            </a:endParaRPr>
          </a:p>
          <a:p>
            <a:pPr indent="0" lvl="0" marL="0" marR="0" rtl="0" algn="just">
              <a:lnSpc>
                <a:spcPct val="140000"/>
              </a:lnSpc>
              <a:spcBef>
                <a:spcPts val="0"/>
              </a:spcBef>
              <a:spcAft>
                <a:spcPts val="0"/>
              </a:spcAft>
              <a:buNone/>
            </a:pPr>
            <a:r>
              <a:t/>
            </a:r>
            <a:endParaRPr sz="2400">
              <a:solidFill>
                <a:srgbClr val="FFFFFF"/>
              </a:solidFill>
            </a:endParaRPr>
          </a:p>
          <a:p>
            <a:pPr indent="0" lvl="0" marL="0" marR="0" rtl="0" algn="just">
              <a:lnSpc>
                <a:spcPct val="140000"/>
              </a:lnSpc>
              <a:spcBef>
                <a:spcPts val="0"/>
              </a:spcBef>
              <a:spcAft>
                <a:spcPts val="0"/>
              </a:spcAft>
              <a:buNone/>
            </a:pPr>
            <a:r>
              <a:t/>
            </a:r>
            <a:endParaRPr sz="2100">
              <a:solidFill>
                <a:srgbClr val="FFFFFF"/>
              </a:solidFill>
            </a:endParaRPr>
          </a:p>
          <a:p>
            <a:pPr indent="0" lvl="0" marL="0" marR="0" rtl="0" algn="just">
              <a:lnSpc>
                <a:spcPct val="140000"/>
              </a:lnSpc>
              <a:spcBef>
                <a:spcPts val="0"/>
              </a:spcBef>
              <a:spcAft>
                <a:spcPts val="0"/>
              </a:spcAft>
              <a:buNone/>
            </a:pPr>
            <a:r>
              <a:t/>
            </a:r>
            <a:endParaRPr sz="2100">
              <a:solidFill>
                <a:srgbClr val="FFFFFF"/>
              </a:solidFill>
            </a:endParaRPr>
          </a:p>
        </p:txBody>
      </p:sp>
      <p:sp>
        <p:nvSpPr>
          <p:cNvPr id="248" name="Google Shape;248;p6"/>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Introduction</a:t>
            </a:r>
            <a:endParaRPr>
              <a:solidFill>
                <a:schemeClr val="lt1"/>
              </a:solidFill>
            </a:endParaRPr>
          </a:p>
        </p:txBody>
      </p:sp>
      <p:sp>
        <p:nvSpPr>
          <p:cNvPr id="249" name="Google Shape;249;p6"/>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Dataset and Cleaning</a:t>
            </a:r>
            <a:endParaRPr>
              <a:solidFill>
                <a:schemeClr val="lt1"/>
              </a:solidFill>
            </a:endParaRPr>
          </a:p>
        </p:txBody>
      </p:sp>
      <p:sp>
        <p:nvSpPr>
          <p:cNvPr id="250" name="Google Shape;250;p6"/>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1" lang="en-US" sz="2051">
                <a:solidFill>
                  <a:srgbClr val="D0C1AA"/>
                </a:solidFill>
              </a:rPr>
              <a:t>Model</a:t>
            </a:r>
            <a:endParaRPr b="1">
              <a:solidFill>
                <a:srgbClr val="D0C1AA"/>
              </a:solidFill>
            </a:endParaRPr>
          </a:p>
        </p:txBody>
      </p:sp>
      <p:sp>
        <p:nvSpPr>
          <p:cNvPr id="251" name="Google Shape;251;p6"/>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chemeClr val="lt1"/>
                </a:solidFill>
              </a:rPr>
              <a:t>NSDC</a:t>
            </a:r>
            <a:endParaRPr>
              <a:solidFill>
                <a:schemeClr val="lt1"/>
              </a:solidFill>
            </a:endParaRPr>
          </a:p>
        </p:txBody>
      </p:sp>
      <p:sp>
        <p:nvSpPr>
          <p:cNvPr id="252" name="Google Shape;252;p6"/>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rtl="0" algn="ctr">
              <a:lnSpc>
                <a:spcPct val="139980"/>
              </a:lnSpc>
              <a:spcBef>
                <a:spcPts val="0"/>
              </a:spcBef>
              <a:spcAft>
                <a:spcPts val="0"/>
              </a:spcAft>
              <a:buClr>
                <a:schemeClr val="dk1"/>
              </a:buClr>
              <a:buFont typeface="Arial"/>
              <a:buNone/>
            </a:pPr>
            <a:r>
              <a:rPr lang="en-US" sz="2051">
                <a:solidFill>
                  <a:schemeClr val="lt1"/>
                </a:solidFill>
              </a:rPr>
              <a:t>Demo</a:t>
            </a:r>
            <a:endParaRPr>
              <a:solidFill>
                <a:schemeClr val="lt1"/>
              </a:solidFill>
            </a:endParaRPr>
          </a:p>
        </p:txBody>
      </p:sp>
      <p:sp>
        <p:nvSpPr>
          <p:cNvPr id="253" name="Google Shape;253;p6"/>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Evaluation</a:t>
            </a:r>
            <a:endParaRPr>
              <a:solidFill>
                <a:schemeClr val="lt1"/>
              </a:solidFill>
            </a:endParaRPr>
          </a:p>
        </p:txBody>
      </p:sp>
      <p:sp>
        <p:nvSpPr>
          <p:cNvPr id="254" name="Google Shape;254;p6"/>
          <p:cNvSpPr txBox="1"/>
          <p:nvPr/>
        </p:nvSpPr>
        <p:spPr>
          <a:xfrm>
            <a:off x="361125" y="1441875"/>
            <a:ext cx="5868900" cy="27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lt1"/>
                </a:solidFill>
                <a:latin typeface="Calibri"/>
                <a:ea typeface="Calibri"/>
                <a:cs typeface="Calibri"/>
                <a:sym typeface="Calibri"/>
              </a:rPr>
              <a:t>What is Co-</a:t>
            </a:r>
            <a:r>
              <a:rPr lang="en-US" sz="2400">
                <a:solidFill>
                  <a:schemeClr val="lt1"/>
                </a:solidFill>
                <a:latin typeface="Calibri"/>
                <a:ea typeface="Calibri"/>
                <a:cs typeface="Calibri"/>
                <a:sym typeface="Calibri"/>
              </a:rPr>
              <a:t>Occurrence</a:t>
            </a:r>
            <a:r>
              <a:rPr lang="en-US" sz="2400">
                <a:solidFill>
                  <a:schemeClr val="lt1"/>
                </a:solidFill>
                <a:latin typeface="Calibri"/>
                <a:ea typeface="Calibri"/>
                <a:cs typeface="Calibri"/>
                <a:sym typeface="Calibri"/>
              </a:rPr>
              <a:t>?</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US" sz="2400">
                <a:solidFill>
                  <a:schemeClr val="lt1"/>
                </a:solidFill>
                <a:latin typeface="Calibri"/>
                <a:ea typeface="Calibri"/>
                <a:cs typeface="Calibri"/>
                <a:sym typeface="Calibri"/>
              </a:rPr>
              <a:t>Recommendation technique that learns </a:t>
            </a:r>
            <a:r>
              <a:rPr lang="en-US" sz="2400">
                <a:solidFill>
                  <a:schemeClr val="lt1"/>
                </a:solidFill>
                <a:latin typeface="Calibri"/>
                <a:ea typeface="Calibri"/>
                <a:cs typeface="Calibri"/>
                <a:sym typeface="Calibri"/>
              </a:rPr>
              <a:t>relationships between items based on how frequently they appear together. Based of the data, it then generates a count of the occurrences. These models learns which clothing categories and subgenres commonly appear together in outfits respectively.</a:t>
            </a:r>
            <a:endParaRPr sz="2400">
              <a:solidFill>
                <a:schemeClr val="lt1"/>
              </a:solidFill>
              <a:latin typeface="Calibri"/>
              <a:ea typeface="Calibri"/>
              <a:cs typeface="Calibri"/>
              <a:sym typeface="Calibri"/>
            </a:endParaRPr>
          </a:p>
        </p:txBody>
      </p:sp>
      <p:sp>
        <p:nvSpPr>
          <p:cNvPr id="255" name="Google Shape;255;p6"/>
          <p:cNvSpPr txBox="1"/>
          <p:nvPr/>
        </p:nvSpPr>
        <p:spPr>
          <a:xfrm>
            <a:off x="361125" y="4689100"/>
            <a:ext cx="7912500" cy="19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lt1"/>
                </a:solidFill>
                <a:latin typeface="Calibri"/>
                <a:ea typeface="Calibri"/>
                <a:cs typeface="Calibri"/>
                <a:sym typeface="Calibri"/>
              </a:rPr>
              <a:t>Model 1</a:t>
            </a:r>
            <a:endParaRPr sz="2400">
              <a:solidFill>
                <a:schemeClr val="lt1"/>
              </a:solidFill>
              <a:latin typeface="Calibri"/>
              <a:ea typeface="Calibri"/>
              <a:cs typeface="Calibri"/>
              <a:sym typeface="Calibri"/>
            </a:endParaRPr>
          </a:p>
          <a:p>
            <a:pPr indent="-381000" lvl="0" marL="457200" rtl="0" algn="l">
              <a:spcBef>
                <a:spcPts val="0"/>
              </a:spcBef>
              <a:spcAft>
                <a:spcPts val="0"/>
              </a:spcAft>
              <a:buClr>
                <a:schemeClr val="lt1"/>
              </a:buClr>
              <a:buSzPts val="2400"/>
              <a:buFont typeface="Calibri"/>
              <a:buChar char="●"/>
            </a:pPr>
            <a:r>
              <a:rPr lang="en-US" sz="2400">
                <a:solidFill>
                  <a:schemeClr val="lt1"/>
                </a:solidFill>
                <a:latin typeface="Calibri"/>
                <a:ea typeface="Calibri"/>
                <a:cs typeface="Calibri"/>
                <a:sym typeface="Calibri"/>
              </a:rPr>
              <a:t>Learned relationships using </a:t>
            </a:r>
            <a:r>
              <a:rPr lang="en-US" sz="2400">
                <a:solidFill>
                  <a:schemeClr val="lt1"/>
                </a:solidFill>
                <a:latin typeface="Calibri"/>
                <a:ea typeface="Calibri"/>
                <a:cs typeface="Calibri"/>
                <a:sym typeface="Calibri"/>
              </a:rPr>
              <a:t>general</a:t>
            </a:r>
            <a:r>
              <a:rPr lang="en-US" sz="2400">
                <a:solidFill>
                  <a:schemeClr val="lt1"/>
                </a:solidFill>
                <a:latin typeface="Calibri"/>
                <a:ea typeface="Calibri"/>
                <a:cs typeface="Calibri"/>
                <a:sym typeface="Calibri"/>
              </a:rPr>
              <a:t> clothing categories</a:t>
            </a:r>
            <a:endParaRPr sz="2400">
              <a:solidFill>
                <a:schemeClr val="lt1"/>
              </a:solidFill>
              <a:latin typeface="Calibri"/>
              <a:ea typeface="Calibri"/>
              <a:cs typeface="Calibri"/>
              <a:sym typeface="Calibri"/>
            </a:endParaRPr>
          </a:p>
          <a:p>
            <a:pPr indent="-381000" lvl="1" marL="914400" rtl="0" algn="l">
              <a:spcBef>
                <a:spcPts val="0"/>
              </a:spcBef>
              <a:spcAft>
                <a:spcPts val="0"/>
              </a:spcAft>
              <a:buClr>
                <a:schemeClr val="lt1"/>
              </a:buClr>
              <a:buSzPts val="2400"/>
              <a:buFont typeface="Calibri"/>
              <a:buChar char="○"/>
            </a:pPr>
            <a:r>
              <a:rPr lang="en-US" sz="2400">
                <a:solidFill>
                  <a:schemeClr val="lt1"/>
                </a:solidFill>
                <a:latin typeface="Calibri"/>
                <a:ea typeface="Calibri"/>
                <a:cs typeface="Calibri"/>
                <a:sym typeface="Calibri"/>
              </a:rPr>
              <a:t>categories were broad -&gt; </a:t>
            </a:r>
            <a:r>
              <a:rPr lang="en-US" sz="2400">
                <a:solidFill>
                  <a:schemeClr val="lt1"/>
                </a:solidFill>
                <a:latin typeface="Calibri"/>
                <a:ea typeface="Calibri"/>
                <a:cs typeface="Calibri"/>
                <a:sym typeface="Calibri"/>
              </a:rPr>
              <a:t>repetitive</a:t>
            </a:r>
            <a:r>
              <a:rPr lang="en-US" sz="2400">
                <a:solidFill>
                  <a:schemeClr val="lt1"/>
                </a:solidFill>
                <a:latin typeface="Calibri"/>
                <a:ea typeface="Calibri"/>
                <a:cs typeface="Calibri"/>
                <a:sym typeface="Calibri"/>
              </a:rPr>
              <a:t> </a:t>
            </a:r>
            <a:r>
              <a:rPr lang="en-US" sz="2400">
                <a:solidFill>
                  <a:schemeClr val="lt1"/>
                </a:solidFill>
                <a:latin typeface="Calibri"/>
                <a:ea typeface="Calibri"/>
                <a:cs typeface="Calibri"/>
                <a:sym typeface="Calibri"/>
              </a:rPr>
              <a:t>recommendations</a:t>
            </a:r>
            <a:r>
              <a:rPr lang="en-US" sz="2400">
                <a:solidFill>
                  <a:schemeClr val="lt1"/>
                </a:solidFill>
                <a:latin typeface="Calibri"/>
                <a:ea typeface="Calibri"/>
                <a:cs typeface="Calibri"/>
                <a:sym typeface="Calibri"/>
              </a:rPr>
              <a:t>  </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US" sz="2400">
                <a:solidFill>
                  <a:schemeClr val="lt1"/>
                </a:solidFill>
                <a:latin typeface="Calibri"/>
                <a:ea typeface="Calibri"/>
                <a:cs typeface="Calibri"/>
                <a:sym typeface="Calibri"/>
              </a:rPr>
              <a:t>Model 2</a:t>
            </a:r>
            <a:endParaRPr sz="2400">
              <a:solidFill>
                <a:schemeClr val="lt1"/>
              </a:solidFill>
              <a:latin typeface="Calibri"/>
              <a:ea typeface="Calibri"/>
              <a:cs typeface="Calibri"/>
              <a:sym typeface="Calibri"/>
            </a:endParaRPr>
          </a:p>
          <a:p>
            <a:pPr indent="-381000" lvl="0" marL="457200" rtl="0" algn="l">
              <a:spcBef>
                <a:spcPts val="0"/>
              </a:spcBef>
              <a:spcAft>
                <a:spcPts val="0"/>
              </a:spcAft>
              <a:buClr>
                <a:schemeClr val="lt1"/>
              </a:buClr>
              <a:buSzPts val="2400"/>
              <a:buFont typeface="Calibri"/>
              <a:buChar char="●"/>
            </a:pPr>
            <a:r>
              <a:rPr lang="en-US" sz="2400">
                <a:solidFill>
                  <a:schemeClr val="lt1"/>
                </a:solidFill>
                <a:latin typeface="Calibri"/>
                <a:ea typeface="Calibri"/>
                <a:cs typeface="Calibri"/>
                <a:sym typeface="Calibri"/>
              </a:rPr>
              <a:t>Learns relationships using detailed fashion sub-genres </a:t>
            </a:r>
            <a:endParaRPr sz="2400">
              <a:solidFill>
                <a:schemeClr val="lt1"/>
              </a:solidFill>
              <a:latin typeface="Calibri"/>
              <a:ea typeface="Calibri"/>
              <a:cs typeface="Calibri"/>
              <a:sym typeface="Calibri"/>
            </a:endParaRPr>
          </a:p>
          <a:p>
            <a:pPr indent="-381000" lvl="1" marL="914400" rtl="0" algn="l">
              <a:spcBef>
                <a:spcPts val="0"/>
              </a:spcBef>
              <a:spcAft>
                <a:spcPts val="0"/>
              </a:spcAft>
              <a:buClr>
                <a:schemeClr val="lt1"/>
              </a:buClr>
              <a:buSzPts val="2400"/>
              <a:buFont typeface="Calibri"/>
              <a:buChar char="○"/>
            </a:pPr>
            <a:r>
              <a:rPr lang="en-US" sz="2400">
                <a:solidFill>
                  <a:schemeClr val="lt1"/>
                </a:solidFill>
                <a:latin typeface="Calibri"/>
                <a:ea typeface="Calibri"/>
                <a:cs typeface="Calibri"/>
                <a:sym typeface="Calibri"/>
              </a:rPr>
              <a:t>Narrow categories -&gt; detailed pairings</a:t>
            </a:r>
            <a:endParaRPr sz="24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91401"/>
        </a:solidFill>
      </p:bgPr>
    </p:bg>
    <p:spTree>
      <p:nvGrpSpPr>
        <p:cNvPr id="259" name="Shape 259"/>
        <p:cNvGrpSpPr/>
        <p:nvPr/>
      </p:nvGrpSpPr>
      <p:grpSpPr>
        <a:xfrm>
          <a:off x="0" y="0"/>
          <a:ext cx="0" cy="0"/>
          <a:chOff x="0" y="0"/>
          <a:chExt cx="0" cy="0"/>
        </a:xfrm>
      </p:grpSpPr>
      <p:cxnSp>
        <p:nvCxnSpPr>
          <p:cNvPr id="260" name="Google Shape;260;p7"/>
          <p:cNvCxnSpPr/>
          <p:nvPr/>
        </p:nvCxnSpPr>
        <p:spPr>
          <a:xfrm>
            <a:off x="1028700" y="9267825"/>
            <a:ext cx="16230600" cy="0"/>
          </a:xfrm>
          <a:prstGeom prst="straightConnector1">
            <a:avLst/>
          </a:prstGeom>
          <a:noFill/>
          <a:ln cap="flat" cmpd="sng" w="38100">
            <a:solidFill>
              <a:srgbClr val="FFFFFF"/>
            </a:solidFill>
            <a:prstDash val="solid"/>
            <a:round/>
            <a:headEnd len="sm" w="sm" type="none"/>
            <a:tailEnd len="sm" w="sm" type="none"/>
          </a:ln>
        </p:spPr>
      </p:cxnSp>
      <p:grpSp>
        <p:nvGrpSpPr>
          <p:cNvPr id="261" name="Google Shape;261;p7"/>
          <p:cNvGrpSpPr/>
          <p:nvPr/>
        </p:nvGrpSpPr>
        <p:grpSpPr>
          <a:xfrm>
            <a:off x="-1143000" y="0"/>
            <a:ext cx="20574000" cy="10287000"/>
            <a:chOff x="0" y="0"/>
            <a:chExt cx="27432000" cy="13716000"/>
          </a:xfrm>
        </p:grpSpPr>
        <p:sp>
          <p:nvSpPr>
            <p:cNvPr id="262" name="Google Shape;262;p7"/>
            <p:cNvSpPr/>
            <p:nvPr/>
          </p:nvSpPr>
          <p:spPr>
            <a:xfrm>
              <a:off x="20574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63" name="Google Shape;263;p7"/>
            <p:cNvSpPr/>
            <p:nvPr/>
          </p:nvSpPr>
          <p:spPr>
            <a:xfrm>
              <a:off x="20574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64" name="Google Shape;264;p7"/>
            <p:cNvSpPr/>
            <p:nvPr/>
          </p:nvSpPr>
          <p:spPr>
            <a:xfrm>
              <a:off x="13716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65" name="Google Shape;265;p7"/>
            <p:cNvSpPr/>
            <p:nvPr/>
          </p:nvSpPr>
          <p:spPr>
            <a:xfrm>
              <a:off x="13716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66" name="Google Shape;266;p7"/>
            <p:cNvSpPr/>
            <p:nvPr/>
          </p:nvSpPr>
          <p:spPr>
            <a:xfrm>
              <a:off x="6858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67" name="Google Shape;267;p7"/>
            <p:cNvSpPr/>
            <p:nvPr/>
          </p:nvSpPr>
          <p:spPr>
            <a:xfrm>
              <a:off x="6858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68" name="Google Shape;268;p7"/>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69" name="Google Shape;269;p7"/>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grpSp>
      <p:grpSp>
        <p:nvGrpSpPr>
          <p:cNvPr id="270" name="Google Shape;270;p7"/>
          <p:cNvGrpSpPr/>
          <p:nvPr/>
        </p:nvGrpSpPr>
        <p:grpSpPr>
          <a:xfrm>
            <a:off x="15481179" y="613779"/>
            <a:ext cx="1919443" cy="711197"/>
            <a:chOff x="0" y="-38100"/>
            <a:chExt cx="505529" cy="187310"/>
          </a:xfrm>
        </p:grpSpPr>
        <p:sp>
          <p:nvSpPr>
            <p:cNvPr id="271" name="Google Shape;271;p7"/>
            <p:cNvSpPr/>
            <p:nvPr/>
          </p:nvSpPr>
          <p:spPr>
            <a:xfrm>
              <a:off x="0"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txBox="1"/>
            <p:nvPr/>
          </p:nvSpPr>
          <p:spPr>
            <a:xfrm>
              <a:off x="0" y="-38100"/>
              <a:ext cx="505500" cy="1872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3" name="Google Shape;273;p7"/>
          <p:cNvSpPr txBox="1"/>
          <p:nvPr/>
        </p:nvSpPr>
        <p:spPr>
          <a:xfrm>
            <a:off x="15730237" y="894086"/>
            <a:ext cx="1421400" cy="3078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2A2D2C"/>
                </a:solidFill>
                <a:latin typeface="Arial"/>
                <a:ea typeface="Arial"/>
                <a:cs typeface="Arial"/>
                <a:sym typeface="Arial"/>
              </a:rPr>
              <a:t>Page 07</a:t>
            </a:r>
            <a:endParaRPr/>
          </a:p>
        </p:txBody>
      </p:sp>
      <p:sp>
        <p:nvSpPr>
          <p:cNvPr id="274" name="Google Shape;274;p7"/>
          <p:cNvSpPr txBox="1"/>
          <p:nvPr/>
        </p:nvSpPr>
        <p:spPr>
          <a:xfrm>
            <a:off x="6858000" y="2021425"/>
            <a:ext cx="10477500" cy="1002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6510">
                <a:solidFill>
                  <a:srgbClr val="D0C1AA"/>
                </a:solidFill>
                <a:latin typeface="Play"/>
                <a:ea typeface="Play"/>
                <a:cs typeface="Play"/>
                <a:sym typeface="Play"/>
              </a:rPr>
              <a:t>Recommendation Function</a:t>
            </a:r>
            <a:endParaRPr b="1" i="0" sz="6510">
              <a:solidFill>
                <a:srgbClr val="D0C1AA"/>
              </a:solidFill>
              <a:latin typeface="Play"/>
              <a:ea typeface="Play"/>
              <a:cs typeface="Play"/>
              <a:sym typeface="Play"/>
            </a:endParaRPr>
          </a:p>
        </p:txBody>
      </p:sp>
      <p:sp>
        <p:nvSpPr>
          <p:cNvPr id="275" name="Google Shape;275;p7"/>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Introduction</a:t>
            </a:r>
            <a:endParaRPr>
              <a:solidFill>
                <a:schemeClr val="lt1"/>
              </a:solidFill>
            </a:endParaRPr>
          </a:p>
        </p:txBody>
      </p:sp>
      <p:sp>
        <p:nvSpPr>
          <p:cNvPr id="276" name="Google Shape;276;p7"/>
          <p:cNvSpPr txBox="1"/>
          <p:nvPr/>
        </p:nvSpPr>
        <p:spPr>
          <a:xfrm>
            <a:off x="7096050" y="3213075"/>
            <a:ext cx="10304700" cy="5541300"/>
          </a:xfrm>
          <a:prstGeom prst="rect">
            <a:avLst/>
          </a:prstGeom>
          <a:solidFill>
            <a:srgbClr val="000000">
              <a:alpha val="0"/>
            </a:srgbClr>
          </a:solidFill>
          <a:ln>
            <a:noFill/>
          </a:ln>
        </p:spPr>
        <p:txBody>
          <a:bodyPr anchorCtr="0" anchor="t" bIns="0" lIns="0" spcFirstLastPara="1" rIns="0" wrap="square" tIns="0">
            <a:spAutoFit/>
          </a:bodyPr>
          <a:lstStyle/>
          <a:p>
            <a:pPr indent="-381000" lvl="0" marL="457200" rtl="0" algn="l">
              <a:spcBef>
                <a:spcPts val="0"/>
              </a:spcBef>
              <a:spcAft>
                <a:spcPts val="0"/>
              </a:spcAft>
              <a:buClr>
                <a:srgbClr val="D0C1AA"/>
              </a:buClr>
              <a:buSzPts val="2400"/>
              <a:buFont typeface="Arial"/>
              <a:buChar char="●"/>
            </a:pPr>
            <a:r>
              <a:rPr b="1" lang="en-US" sz="2400">
                <a:solidFill>
                  <a:srgbClr val="D0C1AA"/>
                </a:solidFill>
              </a:rPr>
              <a:t>Model 1 (Item Recommendation)</a:t>
            </a:r>
            <a:endParaRPr b="1" sz="2400">
              <a:solidFill>
                <a:srgbClr val="D0C1AA"/>
              </a:solidFill>
            </a:endParaRPr>
          </a:p>
          <a:p>
            <a:pPr indent="-381000" lvl="1" marL="914400" rtl="0" algn="l">
              <a:spcBef>
                <a:spcPts val="0"/>
              </a:spcBef>
              <a:spcAft>
                <a:spcPts val="0"/>
              </a:spcAft>
              <a:buClr>
                <a:srgbClr val="FFFFFF"/>
              </a:buClr>
              <a:buSzPts val="2400"/>
              <a:buChar char="○"/>
            </a:pPr>
            <a:r>
              <a:rPr lang="en-US" sz="2400">
                <a:solidFill>
                  <a:schemeClr val="lt1"/>
                </a:solidFill>
              </a:rPr>
              <a:t>The model identifies items that are often paired with the input and ranks them by the number of occurrences found in the dataset.</a:t>
            </a:r>
            <a:endParaRPr sz="2400">
              <a:solidFill>
                <a:schemeClr val="lt1"/>
              </a:solidFill>
            </a:endParaRPr>
          </a:p>
          <a:p>
            <a:pPr indent="-381000" lvl="2" marL="1371600" rtl="0" algn="l">
              <a:spcBef>
                <a:spcPts val="0"/>
              </a:spcBef>
              <a:spcAft>
                <a:spcPts val="0"/>
              </a:spcAft>
              <a:buClr>
                <a:srgbClr val="FFFFFF"/>
              </a:buClr>
              <a:buSzPts val="2400"/>
              <a:buChar char="■"/>
            </a:pPr>
            <a:r>
              <a:rPr lang="en-US" sz="2400">
                <a:solidFill>
                  <a:schemeClr val="lt1"/>
                </a:solidFill>
              </a:rPr>
              <a:t>The items of each category (Shirt, Shoes, Jacket) with the highest counts is returned and will be included in the final recommended outfit. </a:t>
            </a:r>
            <a:endParaRPr sz="2400">
              <a:solidFill>
                <a:schemeClr val="lt1"/>
              </a:solidFill>
            </a:endParaRPr>
          </a:p>
          <a:p>
            <a:pPr indent="0" lvl="0" marL="0" rtl="0" algn="l">
              <a:spcBef>
                <a:spcPts val="0"/>
              </a:spcBef>
              <a:spcAft>
                <a:spcPts val="0"/>
              </a:spcAft>
              <a:buNone/>
            </a:pPr>
            <a:r>
              <a:t/>
            </a:r>
            <a:endParaRPr sz="2400">
              <a:solidFill>
                <a:srgbClr val="FFFFFF"/>
              </a:solidFill>
            </a:endParaRPr>
          </a:p>
          <a:p>
            <a:pPr indent="-381000" lvl="0" marL="457200" rtl="0" algn="l">
              <a:spcBef>
                <a:spcPts val="0"/>
              </a:spcBef>
              <a:spcAft>
                <a:spcPts val="0"/>
              </a:spcAft>
              <a:buClr>
                <a:srgbClr val="D0C1AA"/>
              </a:buClr>
              <a:buSzPts val="2400"/>
              <a:buFont typeface="Arial"/>
              <a:buChar char="●"/>
            </a:pPr>
            <a:r>
              <a:rPr b="1" lang="en-US" sz="2400">
                <a:solidFill>
                  <a:srgbClr val="D0C1AA"/>
                </a:solidFill>
              </a:rPr>
              <a:t>Model 2 (Sub-Genre Recommendation)</a:t>
            </a:r>
            <a:endParaRPr b="1" sz="2400">
              <a:solidFill>
                <a:srgbClr val="D0C1AA"/>
              </a:solidFill>
            </a:endParaRPr>
          </a:p>
          <a:p>
            <a:pPr indent="-381000" lvl="1" marL="914400" rtl="0" algn="l">
              <a:spcBef>
                <a:spcPts val="0"/>
              </a:spcBef>
              <a:spcAft>
                <a:spcPts val="0"/>
              </a:spcAft>
              <a:buClr>
                <a:srgbClr val="FFFFFF"/>
              </a:buClr>
              <a:buSzPts val="2400"/>
              <a:buChar char="○"/>
            </a:pPr>
            <a:r>
              <a:rPr lang="en-US" sz="2400">
                <a:solidFill>
                  <a:srgbClr val="FFFFFF"/>
                </a:solidFill>
              </a:rPr>
              <a:t>Uses a co-occurrence map - a table that tracks how often two items appear in the same outfit - to find and rank sub-genres that pair well with the input</a:t>
            </a:r>
            <a:endParaRPr sz="2400">
              <a:solidFill>
                <a:srgbClr val="FFFFFF"/>
              </a:solidFill>
            </a:endParaRPr>
          </a:p>
          <a:p>
            <a:pPr indent="-381000" lvl="2" marL="1371600" rtl="0" algn="l">
              <a:spcBef>
                <a:spcPts val="0"/>
              </a:spcBef>
              <a:spcAft>
                <a:spcPts val="0"/>
              </a:spcAft>
              <a:buClr>
                <a:srgbClr val="FFFFFF"/>
              </a:buClr>
              <a:buSzPts val="2400"/>
              <a:buChar char="■"/>
            </a:pPr>
            <a:r>
              <a:rPr lang="en-US" sz="2400">
                <a:solidFill>
                  <a:srgbClr val="FFFFFF"/>
                </a:solidFill>
              </a:rPr>
              <a:t>Sub-genres from the same category as the input are blocked from results</a:t>
            </a:r>
            <a:endParaRPr sz="2400">
              <a:solidFill>
                <a:srgbClr val="FFFFFF"/>
              </a:solidFill>
            </a:endParaRPr>
          </a:p>
          <a:p>
            <a:pPr indent="-381000" lvl="2" marL="1371600" rtl="0" algn="l">
              <a:spcBef>
                <a:spcPts val="0"/>
              </a:spcBef>
              <a:spcAft>
                <a:spcPts val="0"/>
              </a:spcAft>
              <a:buClr>
                <a:srgbClr val="FFFFFF"/>
              </a:buClr>
              <a:buSzPts val="2400"/>
              <a:buChar char="■"/>
            </a:pPr>
            <a:r>
              <a:rPr lang="en-US" sz="2400">
                <a:solidFill>
                  <a:srgbClr val="FFFFFF"/>
                </a:solidFill>
              </a:rPr>
              <a:t>ex) if the outfit already has a dress, shirts and pants won't be recommended</a:t>
            </a:r>
            <a:endParaRPr sz="2400">
              <a:solidFill>
                <a:srgbClr val="FFFFFF"/>
              </a:solidFill>
            </a:endParaRPr>
          </a:p>
        </p:txBody>
      </p:sp>
      <p:sp>
        <p:nvSpPr>
          <p:cNvPr id="277" name="Google Shape;277;p7"/>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Dataset and Cleaning</a:t>
            </a:r>
            <a:endParaRPr>
              <a:solidFill>
                <a:schemeClr val="lt1"/>
              </a:solidFill>
            </a:endParaRPr>
          </a:p>
        </p:txBody>
      </p:sp>
      <p:sp>
        <p:nvSpPr>
          <p:cNvPr id="278" name="Google Shape;278;p7"/>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1" lang="en-US" sz="2051">
                <a:solidFill>
                  <a:srgbClr val="D0C1AA"/>
                </a:solidFill>
              </a:rPr>
              <a:t>Model</a:t>
            </a:r>
            <a:endParaRPr b="1">
              <a:solidFill>
                <a:srgbClr val="D0C1AA"/>
              </a:solidFill>
            </a:endParaRPr>
          </a:p>
        </p:txBody>
      </p:sp>
      <p:sp>
        <p:nvSpPr>
          <p:cNvPr id="279" name="Google Shape;279;p7"/>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chemeClr val="lt1"/>
                </a:solidFill>
              </a:rPr>
              <a:t>NSDC</a:t>
            </a:r>
            <a:endParaRPr b="1">
              <a:solidFill>
                <a:schemeClr val="lt1"/>
              </a:solidFill>
            </a:endParaRPr>
          </a:p>
        </p:txBody>
      </p:sp>
      <p:sp>
        <p:nvSpPr>
          <p:cNvPr id="280" name="Google Shape;280;p7"/>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rtl="0" algn="ctr">
              <a:lnSpc>
                <a:spcPct val="139980"/>
              </a:lnSpc>
              <a:spcBef>
                <a:spcPts val="0"/>
              </a:spcBef>
              <a:spcAft>
                <a:spcPts val="0"/>
              </a:spcAft>
              <a:buClr>
                <a:schemeClr val="dk1"/>
              </a:buClr>
              <a:buFont typeface="Arial"/>
              <a:buNone/>
            </a:pPr>
            <a:r>
              <a:rPr lang="en-US" sz="2051">
                <a:solidFill>
                  <a:schemeClr val="lt1"/>
                </a:solidFill>
              </a:rPr>
              <a:t>Demo</a:t>
            </a:r>
            <a:endParaRPr>
              <a:solidFill>
                <a:schemeClr val="lt1"/>
              </a:solidFill>
            </a:endParaRPr>
          </a:p>
        </p:txBody>
      </p:sp>
      <p:sp>
        <p:nvSpPr>
          <p:cNvPr id="281" name="Google Shape;281;p7"/>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Evaluation</a:t>
            </a:r>
            <a:endParaRPr>
              <a:solidFill>
                <a:schemeClr val="lt1"/>
              </a:solidFill>
            </a:endParaRPr>
          </a:p>
        </p:txBody>
      </p:sp>
      <p:grpSp>
        <p:nvGrpSpPr>
          <p:cNvPr id="282" name="Google Shape;282;p7"/>
          <p:cNvGrpSpPr/>
          <p:nvPr/>
        </p:nvGrpSpPr>
        <p:grpSpPr>
          <a:xfrm>
            <a:off x="1028700" y="2279725"/>
            <a:ext cx="5408825" cy="6474575"/>
            <a:chOff x="1028700" y="2279725"/>
            <a:chExt cx="5408825" cy="6474575"/>
          </a:xfrm>
        </p:grpSpPr>
        <p:pic>
          <p:nvPicPr>
            <p:cNvPr id="283" name="Google Shape;283;p7"/>
            <p:cNvPicPr preferRelativeResize="0"/>
            <p:nvPr/>
          </p:nvPicPr>
          <p:blipFill rotWithShape="1">
            <a:blip r:embed="rId4">
              <a:alphaModFix/>
            </a:blip>
            <a:srcRect b="0" l="11964" r="12267" t="0"/>
            <a:stretch/>
          </p:blipFill>
          <p:spPr>
            <a:xfrm>
              <a:off x="1028700" y="2547325"/>
              <a:ext cx="5408825" cy="5952201"/>
            </a:xfrm>
            <a:prstGeom prst="rect">
              <a:avLst/>
            </a:prstGeom>
            <a:noFill/>
            <a:ln>
              <a:noFill/>
            </a:ln>
          </p:spPr>
        </p:pic>
        <p:sp>
          <p:nvSpPr>
            <p:cNvPr id="284" name="Google Shape;284;p7"/>
            <p:cNvSpPr/>
            <p:nvPr/>
          </p:nvSpPr>
          <p:spPr>
            <a:xfrm>
              <a:off x="1028750" y="2279725"/>
              <a:ext cx="5408700" cy="37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5" name="Google Shape;285;p7"/>
            <p:cNvSpPr/>
            <p:nvPr/>
          </p:nvSpPr>
          <p:spPr>
            <a:xfrm>
              <a:off x="1028750" y="8374800"/>
              <a:ext cx="5408700" cy="37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91401"/>
        </a:solidFill>
      </p:bgPr>
    </p:bg>
    <p:spTree>
      <p:nvGrpSpPr>
        <p:cNvPr id="289" name="Shape 289"/>
        <p:cNvGrpSpPr/>
        <p:nvPr/>
      </p:nvGrpSpPr>
      <p:grpSpPr>
        <a:xfrm>
          <a:off x="0" y="0"/>
          <a:ext cx="0" cy="0"/>
          <a:chOff x="0" y="0"/>
          <a:chExt cx="0" cy="0"/>
        </a:xfrm>
      </p:grpSpPr>
      <p:grpSp>
        <p:nvGrpSpPr>
          <p:cNvPr id="290" name="Google Shape;290;g3eb39f0c2f0_1_3"/>
          <p:cNvGrpSpPr/>
          <p:nvPr/>
        </p:nvGrpSpPr>
        <p:grpSpPr>
          <a:xfrm>
            <a:off x="-1136933" y="0"/>
            <a:ext cx="20574000" cy="10287000"/>
            <a:chOff x="0" y="0"/>
            <a:chExt cx="27432000" cy="13716000"/>
          </a:xfrm>
        </p:grpSpPr>
        <p:sp>
          <p:nvSpPr>
            <p:cNvPr id="291" name="Google Shape;291;g3eb39f0c2f0_1_3"/>
            <p:cNvSpPr/>
            <p:nvPr/>
          </p:nvSpPr>
          <p:spPr>
            <a:xfrm>
              <a:off x="20574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92" name="Google Shape;292;g3eb39f0c2f0_1_3"/>
            <p:cNvSpPr/>
            <p:nvPr/>
          </p:nvSpPr>
          <p:spPr>
            <a:xfrm>
              <a:off x="20574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93" name="Google Shape;293;g3eb39f0c2f0_1_3"/>
            <p:cNvSpPr/>
            <p:nvPr/>
          </p:nvSpPr>
          <p:spPr>
            <a:xfrm>
              <a:off x="13716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94" name="Google Shape;294;g3eb39f0c2f0_1_3"/>
            <p:cNvSpPr/>
            <p:nvPr/>
          </p:nvSpPr>
          <p:spPr>
            <a:xfrm>
              <a:off x="13716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95" name="Google Shape;295;g3eb39f0c2f0_1_3"/>
            <p:cNvSpPr/>
            <p:nvPr/>
          </p:nvSpPr>
          <p:spPr>
            <a:xfrm>
              <a:off x="6858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96" name="Google Shape;296;g3eb39f0c2f0_1_3"/>
            <p:cNvSpPr/>
            <p:nvPr/>
          </p:nvSpPr>
          <p:spPr>
            <a:xfrm>
              <a:off x="6858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97" name="Google Shape;297;g3eb39f0c2f0_1_3"/>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298" name="Google Shape;298;g3eb39f0c2f0_1_3"/>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grpSp>
      <p:grpSp>
        <p:nvGrpSpPr>
          <p:cNvPr id="299" name="Google Shape;299;g3eb39f0c2f0_1_3"/>
          <p:cNvGrpSpPr/>
          <p:nvPr/>
        </p:nvGrpSpPr>
        <p:grpSpPr>
          <a:xfrm>
            <a:off x="15481179" y="613779"/>
            <a:ext cx="1919443" cy="711197"/>
            <a:chOff x="0" y="-38100"/>
            <a:chExt cx="505529" cy="187310"/>
          </a:xfrm>
        </p:grpSpPr>
        <p:sp>
          <p:nvSpPr>
            <p:cNvPr id="300" name="Google Shape;300;g3eb39f0c2f0_1_3"/>
            <p:cNvSpPr/>
            <p:nvPr/>
          </p:nvSpPr>
          <p:spPr>
            <a:xfrm>
              <a:off x="0"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eb39f0c2f0_1_3"/>
            <p:cNvSpPr txBox="1"/>
            <p:nvPr/>
          </p:nvSpPr>
          <p:spPr>
            <a:xfrm>
              <a:off x="0" y="-38100"/>
              <a:ext cx="505500" cy="1872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2" name="Google Shape;302;g3eb39f0c2f0_1_3"/>
          <p:cNvSpPr txBox="1"/>
          <p:nvPr/>
        </p:nvSpPr>
        <p:spPr>
          <a:xfrm>
            <a:off x="1028700" y="1409577"/>
            <a:ext cx="10455600" cy="1416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9200">
                <a:solidFill>
                  <a:srgbClr val="D0C1AA"/>
                </a:solidFill>
                <a:latin typeface="Play"/>
                <a:ea typeface="Play"/>
                <a:cs typeface="Play"/>
                <a:sym typeface="Play"/>
              </a:rPr>
              <a:t>Evaluation</a:t>
            </a:r>
            <a:endParaRPr sz="200"/>
          </a:p>
        </p:txBody>
      </p:sp>
      <p:sp>
        <p:nvSpPr>
          <p:cNvPr id="303" name="Google Shape;303;g3eb39f0c2f0_1_3"/>
          <p:cNvSpPr txBox="1"/>
          <p:nvPr/>
        </p:nvSpPr>
        <p:spPr>
          <a:xfrm>
            <a:off x="15730199" y="879723"/>
            <a:ext cx="1421400" cy="3078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2A2D2C"/>
                </a:solidFill>
                <a:latin typeface="Arial"/>
                <a:ea typeface="Arial"/>
                <a:cs typeface="Arial"/>
                <a:sym typeface="Arial"/>
              </a:rPr>
              <a:t>Page 0</a:t>
            </a:r>
            <a:r>
              <a:rPr b="1" lang="en-US" sz="1999">
                <a:solidFill>
                  <a:srgbClr val="2A2D2C"/>
                </a:solidFill>
              </a:rPr>
              <a:t>8</a:t>
            </a:r>
            <a:endParaRPr/>
          </a:p>
        </p:txBody>
      </p:sp>
      <p:sp>
        <p:nvSpPr>
          <p:cNvPr id="304" name="Google Shape;304;g3eb39f0c2f0_1_3"/>
          <p:cNvSpPr txBox="1"/>
          <p:nvPr/>
        </p:nvSpPr>
        <p:spPr>
          <a:xfrm>
            <a:off x="1028700" y="3013400"/>
            <a:ext cx="16371900" cy="3327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2300">
                <a:solidFill>
                  <a:srgbClr val="FFFFFF"/>
                </a:solidFill>
              </a:rPr>
              <a:t>Top-5 Category Accuracy:</a:t>
            </a:r>
            <a:endParaRPr sz="2300">
              <a:solidFill>
                <a:srgbClr val="FFFFFF"/>
              </a:solidFill>
            </a:endParaRPr>
          </a:p>
          <a:p>
            <a:pPr indent="0" lvl="0" marL="0" marR="0" rtl="0" algn="l">
              <a:lnSpc>
                <a:spcPct val="140000"/>
              </a:lnSpc>
              <a:spcBef>
                <a:spcPts val="0"/>
              </a:spcBef>
              <a:spcAft>
                <a:spcPts val="0"/>
              </a:spcAft>
              <a:buNone/>
            </a:pPr>
            <a:r>
              <a:rPr b="1" lang="en-US" sz="2300">
                <a:solidFill>
                  <a:srgbClr val="D0C1AA"/>
                </a:solidFill>
              </a:rPr>
              <a:t>We tested how well the model could predict a missing clothing category from an outfit</a:t>
            </a:r>
            <a:endParaRPr b="1" sz="2300">
              <a:solidFill>
                <a:srgbClr val="D0C1AA"/>
              </a:solidFill>
            </a:endParaRPr>
          </a:p>
          <a:p>
            <a:pPr indent="0" lvl="0" marL="0" marR="0" rtl="0" algn="l">
              <a:lnSpc>
                <a:spcPct val="140000"/>
              </a:lnSpc>
              <a:spcBef>
                <a:spcPts val="0"/>
              </a:spcBef>
              <a:spcAft>
                <a:spcPts val="0"/>
              </a:spcAft>
              <a:buNone/>
            </a:pPr>
            <a:r>
              <a:rPr lang="en-US" sz="2300">
                <a:solidFill>
                  <a:srgbClr val="FFFFFF"/>
                </a:solidFill>
              </a:rPr>
              <a:t>Result:</a:t>
            </a:r>
            <a:endParaRPr sz="2300">
              <a:solidFill>
                <a:srgbClr val="FFFFFF"/>
              </a:solidFill>
            </a:endParaRPr>
          </a:p>
          <a:p>
            <a:pPr indent="0" lvl="0" marL="0" marR="0" rtl="0" algn="l">
              <a:lnSpc>
                <a:spcPct val="140000"/>
              </a:lnSpc>
              <a:spcBef>
                <a:spcPts val="0"/>
              </a:spcBef>
              <a:spcAft>
                <a:spcPts val="0"/>
              </a:spcAft>
              <a:buNone/>
            </a:pPr>
            <a:r>
              <a:rPr lang="en-US" sz="2300">
                <a:solidFill>
                  <a:srgbClr val="FFFFFF"/>
                </a:solidFill>
              </a:rPr>
              <a:t>Our Model 2 achieved a Top-5 Category Accuracy of 87.20%, meaning that when one item category was hidden from a test outfit, the correct missing category appeared in the model’s top five recommendations 87.20% of the time. This suggests the model learned strong relationships between clothing categories and can usually identify what type of item belongs in an outfit.</a:t>
            </a:r>
            <a:endParaRPr sz="2300">
              <a:solidFill>
                <a:srgbClr val="FFFFFF"/>
              </a:solidFill>
            </a:endParaRPr>
          </a:p>
          <a:p>
            <a:pPr indent="0" lvl="0" marL="0" marR="0" rtl="0" algn="just">
              <a:lnSpc>
                <a:spcPct val="140000"/>
              </a:lnSpc>
              <a:spcBef>
                <a:spcPts val="0"/>
              </a:spcBef>
              <a:spcAft>
                <a:spcPts val="0"/>
              </a:spcAft>
              <a:buNone/>
            </a:pPr>
            <a:r>
              <a:t/>
            </a:r>
            <a:endParaRPr sz="2300">
              <a:solidFill>
                <a:srgbClr val="FFFFFF"/>
              </a:solidFill>
            </a:endParaRPr>
          </a:p>
        </p:txBody>
      </p:sp>
      <p:sp>
        <p:nvSpPr>
          <p:cNvPr id="305" name="Google Shape;305;g3eb39f0c2f0_1_3"/>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Introduction</a:t>
            </a:r>
            <a:endParaRPr>
              <a:solidFill>
                <a:schemeClr val="lt1"/>
              </a:solidFill>
            </a:endParaRPr>
          </a:p>
        </p:txBody>
      </p:sp>
      <p:sp>
        <p:nvSpPr>
          <p:cNvPr id="306" name="Google Shape;306;g3eb39f0c2f0_1_3"/>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Dataset and Cleaning</a:t>
            </a:r>
            <a:endParaRPr>
              <a:solidFill>
                <a:schemeClr val="lt1"/>
              </a:solidFill>
            </a:endParaRPr>
          </a:p>
        </p:txBody>
      </p:sp>
      <p:sp>
        <p:nvSpPr>
          <p:cNvPr id="307" name="Google Shape;307;g3eb39f0c2f0_1_3"/>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Model</a:t>
            </a:r>
            <a:endParaRPr>
              <a:solidFill>
                <a:schemeClr val="lt1"/>
              </a:solidFill>
            </a:endParaRPr>
          </a:p>
        </p:txBody>
      </p:sp>
      <p:sp>
        <p:nvSpPr>
          <p:cNvPr id="308" name="Google Shape;308;g3eb39f0c2f0_1_3"/>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chemeClr val="lt1"/>
                </a:solidFill>
              </a:rPr>
              <a:t>NSDC</a:t>
            </a:r>
            <a:endParaRPr b="1">
              <a:solidFill>
                <a:schemeClr val="lt1"/>
              </a:solidFill>
            </a:endParaRPr>
          </a:p>
        </p:txBody>
      </p:sp>
      <p:sp>
        <p:nvSpPr>
          <p:cNvPr id="309" name="Google Shape;309;g3eb39f0c2f0_1_3"/>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rtl="0" algn="ctr">
              <a:lnSpc>
                <a:spcPct val="139980"/>
              </a:lnSpc>
              <a:spcBef>
                <a:spcPts val="0"/>
              </a:spcBef>
              <a:spcAft>
                <a:spcPts val="0"/>
              </a:spcAft>
              <a:buClr>
                <a:schemeClr val="dk1"/>
              </a:buClr>
              <a:buFont typeface="Arial"/>
              <a:buNone/>
            </a:pPr>
            <a:r>
              <a:rPr lang="en-US" sz="2051">
                <a:solidFill>
                  <a:schemeClr val="lt1"/>
                </a:solidFill>
              </a:rPr>
              <a:t>Demo</a:t>
            </a:r>
            <a:endParaRPr>
              <a:solidFill>
                <a:schemeClr val="lt1"/>
              </a:solidFill>
            </a:endParaRPr>
          </a:p>
        </p:txBody>
      </p:sp>
      <p:sp>
        <p:nvSpPr>
          <p:cNvPr id="310" name="Google Shape;310;g3eb39f0c2f0_1_3"/>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1" lang="en-US" sz="2051">
                <a:solidFill>
                  <a:srgbClr val="D0C1AA"/>
                </a:solidFill>
              </a:rPr>
              <a:t>Evaluation</a:t>
            </a:r>
            <a:endParaRPr b="1">
              <a:solidFill>
                <a:srgbClr val="D0C1AA"/>
              </a:solidFill>
            </a:endParaRPr>
          </a:p>
        </p:txBody>
      </p:sp>
      <p:pic>
        <p:nvPicPr>
          <p:cNvPr id="311" name="Google Shape;311;g3eb39f0c2f0_1_3" title="Screenshot 2026-05-28 at 1.44.33 AM.png"/>
          <p:cNvPicPr preferRelativeResize="0"/>
          <p:nvPr/>
        </p:nvPicPr>
        <p:blipFill>
          <a:blip r:embed="rId4">
            <a:alphaModFix/>
          </a:blip>
          <a:stretch>
            <a:fillRect/>
          </a:stretch>
        </p:blipFill>
        <p:spPr>
          <a:xfrm>
            <a:off x="1028700" y="6111844"/>
            <a:ext cx="6081976" cy="711200"/>
          </a:xfrm>
          <a:prstGeom prst="rect">
            <a:avLst/>
          </a:prstGeom>
          <a:noFill/>
          <a:ln cap="flat" cmpd="sng" w="38100">
            <a:solidFill>
              <a:schemeClr val="lt1"/>
            </a:solidFill>
            <a:prstDash val="solid"/>
            <a:round/>
            <a:headEnd len="sm" w="sm" type="none"/>
            <a:tailEnd len="sm" w="sm" type="none"/>
          </a:ln>
        </p:spPr>
      </p:pic>
      <p:pic>
        <p:nvPicPr>
          <p:cNvPr id="312" name="Google Shape;312;g3eb39f0c2f0_1_3" title="Screenshot 2026-05-28 at 1.45.28 AM.png"/>
          <p:cNvPicPr preferRelativeResize="0"/>
          <p:nvPr/>
        </p:nvPicPr>
        <p:blipFill>
          <a:blip r:embed="rId5">
            <a:alphaModFix/>
          </a:blip>
          <a:stretch>
            <a:fillRect/>
          </a:stretch>
        </p:blipFill>
        <p:spPr>
          <a:xfrm>
            <a:off x="7365462" y="6119913"/>
            <a:ext cx="6081976" cy="695083"/>
          </a:xfrm>
          <a:prstGeom prst="rect">
            <a:avLst/>
          </a:prstGeom>
          <a:noFill/>
          <a:ln cap="flat" cmpd="sng" w="38100">
            <a:solidFill>
              <a:schemeClr val="lt1"/>
            </a:solidFill>
            <a:prstDash val="solid"/>
            <a:round/>
            <a:headEnd len="sm" w="sm" type="none"/>
            <a:tailEnd len="sm" w="sm" type="none"/>
          </a:ln>
        </p:spPr>
      </p:pic>
      <p:pic>
        <p:nvPicPr>
          <p:cNvPr id="313" name="Google Shape;313;g3eb39f0c2f0_1_3" title="Screenshot 2026-05-28 at 1.48.12 AM.png"/>
          <p:cNvPicPr preferRelativeResize="0"/>
          <p:nvPr/>
        </p:nvPicPr>
        <p:blipFill>
          <a:blip r:embed="rId6">
            <a:alphaModFix/>
          </a:blip>
          <a:stretch>
            <a:fillRect/>
          </a:stretch>
        </p:blipFill>
        <p:spPr>
          <a:xfrm>
            <a:off x="1028700" y="7122775"/>
            <a:ext cx="14452476" cy="1709099"/>
          </a:xfrm>
          <a:prstGeom prst="rect">
            <a:avLst/>
          </a:prstGeom>
          <a:noFill/>
          <a:ln cap="flat" cmpd="sng" w="38100">
            <a:solidFill>
              <a:schemeClr val="lt1"/>
            </a:solidFill>
            <a:prstDash val="solid"/>
            <a:round/>
            <a:headEnd len="sm" w="sm" type="none"/>
            <a:tailEnd len="sm" w="sm" type="none"/>
          </a:ln>
        </p:spPr>
      </p:pic>
      <p:cxnSp>
        <p:nvCxnSpPr>
          <p:cNvPr id="314" name="Google Shape;314;g3eb39f0c2f0_1_3"/>
          <p:cNvCxnSpPr/>
          <p:nvPr/>
        </p:nvCxnSpPr>
        <p:spPr>
          <a:xfrm>
            <a:off x="1028700" y="9267825"/>
            <a:ext cx="162306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91401"/>
        </a:solidFill>
      </p:bgPr>
    </p:bg>
    <p:spTree>
      <p:nvGrpSpPr>
        <p:cNvPr id="318" name="Shape 318"/>
        <p:cNvGrpSpPr/>
        <p:nvPr/>
      </p:nvGrpSpPr>
      <p:grpSpPr>
        <a:xfrm>
          <a:off x="0" y="0"/>
          <a:ext cx="0" cy="0"/>
          <a:chOff x="0" y="0"/>
          <a:chExt cx="0" cy="0"/>
        </a:xfrm>
      </p:grpSpPr>
      <p:grpSp>
        <p:nvGrpSpPr>
          <p:cNvPr id="319" name="Google Shape;319;g3eb424d488f_10_0"/>
          <p:cNvGrpSpPr/>
          <p:nvPr/>
        </p:nvGrpSpPr>
        <p:grpSpPr>
          <a:xfrm>
            <a:off x="-1143000" y="0"/>
            <a:ext cx="20574000" cy="10287000"/>
            <a:chOff x="0" y="0"/>
            <a:chExt cx="27432000" cy="13716000"/>
          </a:xfrm>
        </p:grpSpPr>
        <p:sp>
          <p:nvSpPr>
            <p:cNvPr id="320" name="Google Shape;320;g3eb424d488f_10_0"/>
            <p:cNvSpPr/>
            <p:nvPr/>
          </p:nvSpPr>
          <p:spPr>
            <a:xfrm>
              <a:off x="20574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21" name="Google Shape;321;g3eb424d488f_10_0"/>
            <p:cNvSpPr/>
            <p:nvPr/>
          </p:nvSpPr>
          <p:spPr>
            <a:xfrm>
              <a:off x="20574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22" name="Google Shape;322;g3eb424d488f_10_0"/>
            <p:cNvSpPr/>
            <p:nvPr/>
          </p:nvSpPr>
          <p:spPr>
            <a:xfrm>
              <a:off x="13716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23" name="Google Shape;323;g3eb424d488f_10_0"/>
            <p:cNvSpPr/>
            <p:nvPr/>
          </p:nvSpPr>
          <p:spPr>
            <a:xfrm>
              <a:off x="13716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24" name="Google Shape;324;g3eb424d488f_10_0"/>
            <p:cNvSpPr/>
            <p:nvPr/>
          </p:nvSpPr>
          <p:spPr>
            <a:xfrm>
              <a:off x="6858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25" name="Google Shape;325;g3eb424d488f_10_0"/>
            <p:cNvSpPr/>
            <p:nvPr/>
          </p:nvSpPr>
          <p:spPr>
            <a:xfrm>
              <a:off x="6858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26" name="Google Shape;326;g3eb424d488f_10_0"/>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27" name="Google Shape;327;g3eb424d488f_10_0"/>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grpSp>
      <p:grpSp>
        <p:nvGrpSpPr>
          <p:cNvPr id="328" name="Google Shape;328;g3eb424d488f_10_0"/>
          <p:cNvGrpSpPr/>
          <p:nvPr/>
        </p:nvGrpSpPr>
        <p:grpSpPr>
          <a:xfrm>
            <a:off x="15481179" y="613779"/>
            <a:ext cx="1919443" cy="711197"/>
            <a:chOff x="0" y="-38100"/>
            <a:chExt cx="505529" cy="187310"/>
          </a:xfrm>
        </p:grpSpPr>
        <p:sp>
          <p:nvSpPr>
            <p:cNvPr id="329" name="Google Shape;329;g3eb424d488f_10_0"/>
            <p:cNvSpPr/>
            <p:nvPr/>
          </p:nvSpPr>
          <p:spPr>
            <a:xfrm>
              <a:off x="0"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3eb424d488f_10_0"/>
            <p:cNvSpPr txBox="1"/>
            <p:nvPr/>
          </p:nvSpPr>
          <p:spPr>
            <a:xfrm>
              <a:off x="0" y="-38100"/>
              <a:ext cx="505500" cy="1872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1" name="Google Shape;331;g3eb424d488f_10_0"/>
          <p:cNvSpPr txBox="1"/>
          <p:nvPr/>
        </p:nvSpPr>
        <p:spPr>
          <a:xfrm>
            <a:off x="1028700" y="1357773"/>
            <a:ext cx="8115300" cy="138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9000">
                <a:solidFill>
                  <a:srgbClr val="D0C1AA"/>
                </a:solidFill>
                <a:latin typeface="Play"/>
                <a:ea typeface="Play"/>
                <a:cs typeface="Play"/>
                <a:sym typeface="Play"/>
              </a:rPr>
              <a:t>Demo</a:t>
            </a:r>
            <a:endParaRPr sz="9000"/>
          </a:p>
        </p:txBody>
      </p:sp>
      <p:sp>
        <p:nvSpPr>
          <p:cNvPr id="332" name="Google Shape;332;g3eb424d488f_10_0"/>
          <p:cNvSpPr txBox="1"/>
          <p:nvPr/>
        </p:nvSpPr>
        <p:spPr>
          <a:xfrm>
            <a:off x="15730199" y="879723"/>
            <a:ext cx="1421400" cy="3078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2A2D2C"/>
                </a:solidFill>
                <a:latin typeface="Arial"/>
                <a:ea typeface="Arial"/>
                <a:cs typeface="Arial"/>
                <a:sym typeface="Arial"/>
              </a:rPr>
              <a:t>Page 09</a:t>
            </a:r>
            <a:endParaRPr/>
          </a:p>
        </p:txBody>
      </p:sp>
      <p:cxnSp>
        <p:nvCxnSpPr>
          <p:cNvPr id="333" name="Google Shape;333;g3eb424d488f_10_0"/>
          <p:cNvCxnSpPr/>
          <p:nvPr/>
        </p:nvCxnSpPr>
        <p:spPr>
          <a:xfrm>
            <a:off x="1028700" y="9267825"/>
            <a:ext cx="16230600" cy="0"/>
          </a:xfrm>
          <a:prstGeom prst="straightConnector1">
            <a:avLst/>
          </a:prstGeom>
          <a:noFill/>
          <a:ln cap="flat" cmpd="sng" w="38100">
            <a:solidFill>
              <a:srgbClr val="FFFFFF"/>
            </a:solidFill>
            <a:prstDash val="solid"/>
            <a:round/>
            <a:headEnd len="sm" w="sm" type="none"/>
            <a:tailEnd len="sm" w="sm" type="none"/>
          </a:ln>
        </p:spPr>
      </p:cxnSp>
      <p:sp>
        <p:nvSpPr>
          <p:cNvPr id="334" name="Google Shape;334;g3eb424d488f_10_0"/>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Introduction</a:t>
            </a:r>
            <a:endParaRPr>
              <a:solidFill>
                <a:schemeClr val="lt1"/>
              </a:solidFill>
            </a:endParaRPr>
          </a:p>
        </p:txBody>
      </p:sp>
      <p:sp>
        <p:nvSpPr>
          <p:cNvPr id="335" name="Google Shape;335;g3eb424d488f_10_0"/>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Dataset and Cleaning</a:t>
            </a:r>
            <a:endParaRPr>
              <a:solidFill>
                <a:schemeClr val="lt1"/>
              </a:solidFill>
            </a:endParaRPr>
          </a:p>
        </p:txBody>
      </p:sp>
      <p:sp>
        <p:nvSpPr>
          <p:cNvPr id="336" name="Google Shape;336;g3eb424d488f_10_0"/>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Model</a:t>
            </a:r>
            <a:endParaRPr>
              <a:solidFill>
                <a:schemeClr val="lt1"/>
              </a:solidFill>
            </a:endParaRPr>
          </a:p>
        </p:txBody>
      </p:sp>
      <p:sp>
        <p:nvSpPr>
          <p:cNvPr id="337" name="Google Shape;337;g3eb424d488f_10_0"/>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chemeClr val="lt1"/>
                </a:solidFill>
              </a:rPr>
              <a:t>NSDC</a:t>
            </a:r>
            <a:endParaRPr>
              <a:solidFill>
                <a:schemeClr val="lt1"/>
              </a:solidFill>
            </a:endParaRPr>
          </a:p>
        </p:txBody>
      </p:sp>
      <p:sp>
        <p:nvSpPr>
          <p:cNvPr id="338" name="Google Shape;338;g3eb424d488f_10_0"/>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1" lang="en-US" sz="2051">
                <a:solidFill>
                  <a:srgbClr val="D0C1AA"/>
                </a:solidFill>
              </a:rPr>
              <a:t>Demo</a:t>
            </a:r>
            <a:endParaRPr b="1">
              <a:solidFill>
                <a:srgbClr val="D0C1AA"/>
              </a:solidFill>
            </a:endParaRPr>
          </a:p>
        </p:txBody>
      </p:sp>
      <p:sp>
        <p:nvSpPr>
          <p:cNvPr id="339" name="Google Shape;339;g3eb424d488f_10_0"/>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Evaluation</a:t>
            </a:r>
            <a:endParaRPr>
              <a:solidFill>
                <a:schemeClr val="lt1"/>
              </a:solidFill>
            </a:endParaRPr>
          </a:p>
        </p:txBody>
      </p:sp>
      <p:pic>
        <p:nvPicPr>
          <p:cNvPr id="340" name="Google Shape;340;g3eb424d488f_10_0" title="Screenshot 2026-05-28 at 12.53.27 AM.png"/>
          <p:cNvPicPr preferRelativeResize="0"/>
          <p:nvPr/>
        </p:nvPicPr>
        <p:blipFill>
          <a:blip r:embed="rId4">
            <a:alphaModFix/>
          </a:blip>
          <a:stretch>
            <a:fillRect/>
          </a:stretch>
        </p:blipFill>
        <p:spPr>
          <a:xfrm>
            <a:off x="1028700" y="2879163"/>
            <a:ext cx="12741508" cy="1910325"/>
          </a:xfrm>
          <a:prstGeom prst="rect">
            <a:avLst/>
          </a:prstGeom>
          <a:noFill/>
          <a:ln cap="flat" cmpd="sng" w="38100">
            <a:solidFill>
              <a:schemeClr val="lt1"/>
            </a:solidFill>
            <a:prstDash val="solid"/>
            <a:round/>
            <a:headEnd len="sm" w="sm" type="none"/>
            <a:tailEnd len="sm" w="sm" type="none"/>
          </a:ln>
        </p:spPr>
      </p:pic>
      <p:sp>
        <p:nvSpPr>
          <p:cNvPr id="341" name="Google Shape;341;g3eb424d488f_10_0"/>
          <p:cNvSpPr txBox="1"/>
          <p:nvPr/>
        </p:nvSpPr>
        <p:spPr>
          <a:xfrm>
            <a:off x="1028700" y="9267825"/>
            <a:ext cx="4201200" cy="58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rPr>
              <a:t>Input: Skinny Jeans</a:t>
            </a:r>
            <a:endParaRPr sz="2000">
              <a:solidFill>
                <a:schemeClr val="lt1"/>
              </a:solidFill>
            </a:endParaRPr>
          </a:p>
        </p:txBody>
      </p:sp>
      <p:pic>
        <p:nvPicPr>
          <p:cNvPr id="342" name="Google Shape;342;g3eb424d488f_10_0"/>
          <p:cNvPicPr preferRelativeResize="0"/>
          <p:nvPr/>
        </p:nvPicPr>
        <p:blipFill>
          <a:blip r:embed="rId5">
            <a:alphaModFix/>
          </a:blip>
          <a:stretch>
            <a:fillRect/>
          </a:stretch>
        </p:blipFill>
        <p:spPr>
          <a:xfrm>
            <a:off x="1028700" y="4943887"/>
            <a:ext cx="2602075" cy="4192250"/>
          </a:xfrm>
          <a:prstGeom prst="rect">
            <a:avLst/>
          </a:prstGeom>
          <a:noFill/>
          <a:ln>
            <a:noFill/>
          </a:ln>
        </p:spPr>
      </p:pic>
      <p:pic>
        <p:nvPicPr>
          <p:cNvPr id="343" name="Google Shape;343;g3eb424d488f_10_0"/>
          <p:cNvPicPr preferRelativeResize="0"/>
          <p:nvPr/>
        </p:nvPicPr>
        <p:blipFill>
          <a:blip r:embed="rId6">
            <a:alphaModFix/>
          </a:blip>
          <a:stretch>
            <a:fillRect/>
          </a:stretch>
        </p:blipFill>
        <p:spPr>
          <a:xfrm>
            <a:off x="3893575" y="4943888"/>
            <a:ext cx="3655301" cy="4192250"/>
          </a:xfrm>
          <a:prstGeom prst="rect">
            <a:avLst/>
          </a:prstGeom>
          <a:noFill/>
          <a:ln>
            <a:noFill/>
          </a:ln>
        </p:spPr>
      </p:pic>
      <p:pic>
        <p:nvPicPr>
          <p:cNvPr id="344" name="Google Shape;344;g3eb424d488f_10_0"/>
          <p:cNvPicPr preferRelativeResize="0"/>
          <p:nvPr/>
        </p:nvPicPr>
        <p:blipFill>
          <a:blip r:embed="rId7">
            <a:alphaModFix/>
          </a:blip>
          <a:stretch>
            <a:fillRect/>
          </a:stretch>
        </p:blipFill>
        <p:spPr>
          <a:xfrm>
            <a:off x="7811667" y="4932537"/>
            <a:ext cx="2385257" cy="4192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91401"/>
        </a:solidFill>
      </p:bgPr>
    </p:bg>
    <p:spTree>
      <p:nvGrpSpPr>
        <p:cNvPr id="348" name="Shape 348"/>
        <p:cNvGrpSpPr/>
        <p:nvPr/>
      </p:nvGrpSpPr>
      <p:grpSpPr>
        <a:xfrm>
          <a:off x="0" y="0"/>
          <a:ext cx="0" cy="0"/>
          <a:chOff x="0" y="0"/>
          <a:chExt cx="0" cy="0"/>
        </a:xfrm>
      </p:grpSpPr>
      <p:grpSp>
        <p:nvGrpSpPr>
          <p:cNvPr id="349" name="Google Shape;349;p9"/>
          <p:cNvGrpSpPr/>
          <p:nvPr/>
        </p:nvGrpSpPr>
        <p:grpSpPr>
          <a:xfrm>
            <a:off x="-1143000" y="0"/>
            <a:ext cx="20574000" cy="10287000"/>
            <a:chOff x="0" y="0"/>
            <a:chExt cx="27432000" cy="13716000"/>
          </a:xfrm>
        </p:grpSpPr>
        <p:sp>
          <p:nvSpPr>
            <p:cNvPr id="350" name="Google Shape;350;p9"/>
            <p:cNvSpPr/>
            <p:nvPr/>
          </p:nvSpPr>
          <p:spPr>
            <a:xfrm>
              <a:off x="20574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51" name="Google Shape;351;p9"/>
            <p:cNvSpPr/>
            <p:nvPr/>
          </p:nvSpPr>
          <p:spPr>
            <a:xfrm>
              <a:off x="20574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52" name="Google Shape;352;p9"/>
            <p:cNvSpPr/>
            <p:nvPr/>
          </p:nvSpPr>
          <p:spPr>
            <a:xfrm>
              <a:off x="13716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53" name="Google Shape;353;p9"/>
            <p:cNvSpPr/>
            <p:nvPr/>
          </p:nvSpPr>
          <p:spPr>
            <a:xfrm>
              <a:off x="13716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54" name="Google Shape;354;p9"/>
            <p:cNvSpPr/>
            <p:nvPr/>
          </p:nvSpPr>
          <p:spPr>
            <a:xfrm>
              <a:off x="6858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55" name="Google Shape;355;p9"/>
            <p:cNvSpPr/>
            <p:nvPr/>
          </p:nvSpPr>
          <p:spPr>
            <a:xfrm>
              <a:off x="6858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56" name="Google Shape;356;p9"/>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sp>
          <p:nvSpPr>
            <p:cNvPr id="357" name="Google Shape;357;p9"/>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3">
                <a:alphaModFix amt="15000"/>
              </a:blip>
              <a:stretch>
                <a:fillRect b="0" l="0" r="0" t="0"/>
              </a:stretch>
            </a:blipFill>
            <a:ln>
              <a:noFill/>
            </a:ln>
          </p:spPr>
        </p:sp>
      </p:grpSp>
      <p:grpSp>
        <p:nvGrpSpPr>
          <p:cNvPr id="358" name="Google Shape;358;p9"/>
          <p:cNvGrpSpPr/>
          <p:nvPr/>
        </p:nvGrpSpPr>
        <p:grpSpPr>
          <a:xfrm>
            <a:off x="15481179" y="613780"/>
            <a:ext cx="1919429" cy="711193"/>
            <a:chOff x="0" y="-38100"/>
            <a:chExt cx="505529" cy="187310"/>
          </a:xfrm>
        </p:grpSpPr>
        <p:sp>
          <p:nvSpPr>
            <p:cNvPr id="359" name="Google Shape;359;p9"/>
            <p:cNvSpPr/>
            <p:nvPr/>
          </p:nvSpPr>
          <p:spPr>
            <a:xfrm>
              <a:off x="0"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9"/>
            <p:cNvSpPr txBox="1"/>
            <p:nvPr/>
          </p:nvSpPr>
          <p:spPr>
            <a:xfrm>
              <a:off x="0" y="-38100"/>
              <a:ext cx="505529" cy="187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1" name="Google Shape;361;p9"/>
          <p:cNvSpPr txBox="1"/>
          <p:nvPr/>
        </p:nvSpPr>
        <p:spPr>
          <a:xfrm>
            <a:off x="1028700" y="1355986"/>
            <a:ext cx="8115300" cy="138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9000">
                <a:solidFill>
                  <a:srgbClr val="D0C1AA"/>
                </a:solidFill>
                <a:latin typeface="Play"/>
                <a:ea typeface="Play"/>
                <a:cs typeface="Play"/>
                <a:sym typeface="Play"/>
              </a:rPr>
              <a:t>Demo</a:t>
            </a:r>
            <a:endParaRPr sz="9000"/>
          </a:p>
        </p:txBody>
      </p:sp>
      <p:sp>
        <p:nvSpPr>
          <p:cNvPr id="362" name="Google Shape;362;p9"/>
          <p:cNvSpPr txBox="1"/>
          <p:nvPr/>
        </p:nvSpPr>
        <p:spPr>
          <a:xfrm>
            <a:off x="15736303" y="894086"/>
            <a:ext cx="1421400" cy="4329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2A2D2C"/>
                </a:solidFill>
                <a:latin typeface="Arial"/>
                <a:ea typeface="Arial"/>
                <a:cs typeface="Arial"/>
                <a:sym typeface="Arial"/>
              </a:rPr>
              <a:t>Page </a:t>
            </a:r>
            <a:r>
              <a:rPr b="1" lang="en-US" sz="1999">
                <a:solidFill>
                  <a:srgbClr val="2A2D2C"/>
                </a:solidFill>
              </a:rPr>
              <a:t>10</a:t>
            </a:r>
            <a:endParaRPr/>
          </a:p>
        </p:txBody>
      </p:sp>
      <p:cxnSp>
        <p:nvCxnSpPr>
          <p:cNvPr id="363" name="Google Shape;363;p9"/>
          <p:cNvCxnSpPr/>
          <p:nvPr/>
        </p:nvCxnSpPr>
        <p:spPr>
          <a:xfrm>
            <a:off x="1028700" y="9267825"/>
            <a:ext cx="16230600" cy="0"/>
          </a:xfrm>
          <a:prstGeom prst="straightConnector1">
            <a:avLst/>
          </a:prstGeom>
          <a:noFill/>
          <a:ln cap="flat" cmpd="sng" w="38100">
            <a:solidFill>
              <a:srgbClr val="FFFFFF"/>
            </a:solidFill>
            <a:prstDash val="solid"/>
            <a:round/>
            <a:headEnd len="sm" w="sm" type="none"/>
            <a:tailEnd len="sm" w="sm" type="none"/>
          </a:ln>
        </p:spPr>
      </p:cxnSp>
      <p:sp>
        <p:nvSpPr>
          <p:cNvPr id="364" name="Google Shape;364;p9"/>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Introduction</a:t>
            </a:r>
            <a:endParaRPr>
              <a:solidFill>
                <a:schemeClr val="lt1"/>
              </a:solidFill>
            </a:endParaRPr>
          </a:p>
        </p:txBody>
      </p:sp>
      <p:sp>
        <p:nvSpPr>
          <p:cNvPr id="365" name="Google Shape;365;p9"/>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Dataset and Cleaning</a:t>
            </a:r>
            <a:endParaRPr>
              <a:solidFill>
                <a:schemeClr val="lt1"/>
              </a:solidFill>
            </a:endParaRPr>
          </a:p>
        </p:txBody>
      </p:sp>
      <p:sp>
        <p:nvSpPr>
          <p:cNvPr id="366" name="Google Shape;366;p9"/>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Model</a:t>
            </a:r>
            <a:endParaRPr>
              <a:solidFill>
                <a:schemeClr val="lt1"/>
              </a:solidFill>
            </a:endParaRPr>
          </a:p>
        </p:txBody>
      </p:sp>
      <p:sp>
        <p:nvSpPr>
          <p:cNvPr id="367" name="Google Shape;367;p9"/>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chemeClr val="lt1"/>
                </a:solidFill>
              </a:rPr>
              <a:t>NSDC</a:t>
            </a:r>
            <a:endParaRPr>
              <a:solidFill>
                <a:schemeClr val="lt1"/>
              </a:solidFill>
            </a:endParaRPr>
          </a:p>
        </p:txBody>
      </p:sp>
      <p:sp>
        <p:nvSpPr>
          <p:cNvPr id="368" name="Google Shape;368;p9"/>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1" lang="en-US" sz="2051">
                <a:solidFill>
                  <a:srgbClr val="D0C1AA"/>
                </a:solidFill>
              </a:rPr>
              <a:t>Demo</a:t>
            </a:r>
            <a:endParaRPr b="1">
              <a:solidFill>
                <a:srgbClr val="D0C1AA"/>
              </a:solidFill>
            </a:endParaRPr>
          </a:p>
        </p:txBody>
      </p:sp>
      <p:sp>
        <p:nvSpPr>
          <p:cNvPr id="369" name="Google Shape;369;p9"/>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Evaluation</a:t>
            </a:r>
            <a:endParaRPr>
              <a:solidFill>
                <a:schemeClr val="lt1"/>
              </a:solidFill>
            </a:endParaRPr>
          </a:p>
        </p:txBody>
      </p:sp>
      <p:pic>
        <p:nvPicPr>
          <p:cNvPr id="370" name="Google Shape;370;p9" title="Screenshot 2026-05-28 at 12.53.27 AM.png"/>
          <p:cNvPicPr preferRelativeResize="0"/>
          <p:nvPr/>
        </p:nvPicPr>
        <p:blipFill>
          <a:blip r:embed="rId4">
            <a:alphaModFix/>
          </a:blip>
          <a:stretch>
            <a:fillRect/>
          </a:stretch>
        </p:blipFill>
        <p:spPr>
          <a:xfrm>
            <a:off x="1028700" y="2875600"/>
            <a:ext cx="12741508" cy="1910325"/>
          </a:xfrm>
          <a:prstGeom prst="rect">
            <a:avLst/>
          </a:prstGeom>
          <a:noFill/>
          <a:ln cap="flat" cmpd="sng" w="38100">
            <a:solidFill>
              <a:schemeClr val="lt1"/>
            </a:solidFill>
            <a:prstDash val="solid"/>
            <a:round/>
            <a:headEnd len="sm" w="sm" type="none"/>
            <a:tailEnd len="sm" w="sm" type="none"/>
          </a:ln>
        </p:spPr>
      </p:pic>
      <p:pic>
        <p:nvPicPr>
          <p:cNvPr id="371" name="Google Shape;371;p9"/>
          <p:cNvPicPr preferRelativeResize="0"/>
          <p:nvPr/>
        </p:nvPicPr>
        <p:blipFill>
          <a:blip r:embed="rId5">
            <a:alphaModFix/>
          </a:blip>
          <a:stretch>
            <a:fillRect/>
          </a:stretch>
        </p:blipFill>
        <p:spPr>
          <a:xfrm>
            <a:off x="1056250" y="4948575"/>
            <a:ext cx="2446530" cy="4191125"/>
          </a:xfrm>
          <a:prstGeom prst="rect">
            <a:avLst/>
          </a:prstGeom>
          <a:noFill/>
          <a:ln>
            <a:noFill/>
          </a:ln>
        </p:spPr>
      </p:pic>
      <p:pic>
        <p:nvPicPr>
          <p:cNvPr id="372" name="Google Shape;372;p9"/>
          <p:cNvPicPr preferRelativeResize="0"/>
          <p:nvPr/>
        </p:nvPicPr>
        <p:blipFill>
          <a:blip r:embed="rId6">
            <a:alphaModFix/>
          </a:blip>
          <a:stretch>
            <a:fillRect/>
          </a:stretch>
        </p:blipFill>
        <p:spPr>
          <a:xfrm>
            <a:off x="3757375" y="4948563"/>
            <a:ext cx="2973025" cy="4191137"/>
          </a:xfrm>
          <a:prstGeom prst="rect">
            <a:avLst/>
          </a:prstGeom>
          <a:noFill/>
          <a:ln>
            <a:noFill/>
          </a:ln>
        </p:spPr>
      </p:pic>
      <p:pic>
        <p:nvPicPr>
          <p:cNvPr id="373" name="Google Shape;373;p9"/>
          <p:cNvPicPr preferRelativeResize="0"/>
          <p:nvPr/>
        </p:nvPicPr>
        <p:blipFill>
          <a:blip r:embed="rId7">
            <a:alphaModFix/>
          </a:blip>
          <a:stretch>
            <a:fillRect/>
          </a:stretch>
        </p:blipFill>
        <p:spPr>
          <a:xfrm>
            <a:off x="7018000" y="4948575"/>
            <a:ext cx="2797526" cy="4191125"/>
          </a:xfrm>
          <a:prstGeom prst="rect">
            <a:avLst/>
          </a:prstGeom>
          <a:noFill/>
          <a:ln>
            <a:noFill/>
          </a:ln>
        </p:spPr>
      </p:pic>
      <p:sp>
        <p:nvSpPr>
          <p:cNvPr id="374" name="Google Shape;374;p9"/>
          <p:cNvSpPr txBox="1"/>
          <p:nvPr/>
        </p:nvSpPr>
        <p:spPr>
          <a:xfrm>
            <a:off x="1028700" y="9267825"/>
            <a:ext cx="4201200" cy="58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rPr>
              <a:t>Input: Wide Leg Jeans</a:t>
            </a:r>
            <a:endParaRPr sz="20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380" name="Google Shape;380;p10"/>
          <p:cNvGrpSpPr/>
          <p:nvPr/>
        </p:nvGrpSpPr>
        <p:grpSpPr>
          <a:xfrm>
            <a:off x="11484177" y="-144661"/>
            <a:ext cx="6803823" cy="10431661"/>
            <a:chOff x="0" y="-38100"/>
            <a:chExt cx="1791953" cy="2747433"/>
          </a:xfrm>
        </p:grpSpPr>
        <p:sp>
          <p:nvSpPr>
            <p:cNvPr id="381" name="Google Shape;381;p10"/>
            <p:cNvSpPr/>
            <p:nvPr/>
          </p:nvSpPr>
          <p:spPr>
            <a:xfrm>
              <a:off x="0" y="0"/>
              <a:ext cx="1791953" cy="2709333"/>
            </a:xfrm>
            <a:custGeom>
              <a:rect b="b" l="l" r="r" t="t"/>
              <a:pathLst>
                <a:path extrusionOk="0" h="2709333" w="1791953">
                  <a:moveTo>
                    <a:pt x="0" y="0"/>
                  </a:moveTo>
                  <a:lnTo>
                    <a:pt x="1791953" y="0"/>
                  </a:lnTo>
                  <a:lnTo>
                    <a:pt x="1791953" y="2709333"/>
                  </a:lnTo>
                  <a:lnTo>
                    <a:pt x="0" y="2709333"/>
                  </a:lnTo>
                  <a:close/>
                </a:path>
              </a:pathLst>
            </a:custGeom>
            <a:solidFill>
              <a:srgbClr val="791401"/>
            </a:solidFill>
            <a:ln>
              <a:noFill/>
            </a:ln>
          </p:spPr>
        </p:sp>
        <p:sp>
          <p:nvSpPr>
            <p:cNvPr id="382" name="Google Shape;382;p10"/>
            <p:cNvSpPr txBox="1"/>
            <p:nvPr/>
          </p:nvSpPr>
          <p:spPr>
            <a:xfrm>
              <a:off x="0" y="-38100"/>
              <a:ext cx="179195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59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3" name="Google Shape;383;p10"/>
          <p:cNvGrpSpPr/>
          <p:nvPr/>
        </p:nvGrpSpPr>
        <p:grpSpPr>
          <a:xfrm>
            <a:off x="11484177" y="0"/>
            <a:ext cx="10287000" cy="10287000"/>
            <a:chOff x="0" y="0"/>
            <a:chExt cx="13716000" cy="13716000"/>
          </a:xfrm>
        </p:grpSpPr>
        <p:sp>
          <p:nvSpPr>
            <p:cNvPr id="384" name="Google Shape;384;p10"/>
            <p:cNvSpPr/>
            <p:nvPr/>
          </p:nvSpPr>
          <p:spPr>
            <a:xfrm>
              <a:off x="685800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4">
                <a:alphaModFix amt="15000"/>
              </a:blip>
              <a:stretch>
                <a:fillRect b="0" l="0" r="0" t="0"/>
              </a:stretch>
            </a:blipFill>
            <a:ln>
              <a:noFill/>
            </a:ln>
          </p:spPr>
        </p:sp>
        <p:sp>
          <p:nvSpPr>
            <p:cNvPr id="385" name="Google Shape;385;p10"/>
            <p:cNvSpPr/>
            <p:nvPr/>
          </p:nvSpPr>
          <p:spPr>
            <a:xfrm>
              <a:off x="685800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4">
                <a:alphaModFix amt="15000"/>
              </a:blip>
              <a:stretch>
                <a:fillRect b="0" l="0" r="0" t="0"/>
              </a:stretch>
            </a:blipFill>
            <a:ln>
              <a:noFill/>
            </a:ln>
          </p:spPr>
        </p:sp>
        <p:sp>
          <p:nvSpPr>
            <p:cNvPr id="386" name="Google Shape;386;p10"/>
            <p:cNvSpPr/>
            <p:nvPr/>
          </p:nvSpPr>
          <p:spPr>
            <a:xfrm>
              <a:off x="0" y="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4">
                <a:alphaModFix amt="15000"/>
              </a:blip>
              <a:stretch>
                <a:fillRect b="0" l="0" r="0" t="0"/>
              </a:stretch>
            </a:blipFill>
            <a:ln>
              <a:noFill/>
            </a:ln>
          </p:spPr>
        </p:sp>
        <p:sp>
          <p:nvSpPr>
            <p:cNvPr id="387" name="Google Shape;387;p10"/>
            <p:cNvSpPr/>
            <p:nvPr/>
          </p:nvSpPr>
          <p:spPr>
            <a:xfrm>
              <a:off x="0" y="6858000"/>
              <a:ext cx="6858000" cy="6858000"/>
            </a:xfrm>
            <a:custGeom>
              <a:rect b="b" l="l" r="r" t="t"/>
              <a:pathLst>
                <a:path extrusionOk="0" h="6858000" w="6858000">
                  <a:moveTo>
                    <a:pt x="0" y="0"/>
                  </a:moveTo>
                  <a:lnTo>
                    <a:pt x="6858000" y="0"/>
                  </a:lnTo>
                  <a:lnTo>
                    <a:pt x="6858000" y="6858000"/>
                  </a:lnTo>
                  <a:lnTo>
                    <a:pt x="0" y="6858000"/>
                  </a:lnTo>
                  <a:lnTo>
                    <a:pt x="0" y="0"/>
                  </a:lnTo>
                  <a:close/>
                </a:path>
              </a:pathLst>
            </a:custGeom>
            <a:blipFill rotWithShape="1">
              <a:blip r:embed="rId4">
                <a:alphaModFix amt="15000"/>
              </a:blip>
              <a:stretch>
                <a:fillRect b="0" l="0" r="0" t="0"/>
              </a:stretch>
            </a:blipFill>
            <a:ln>
              <a:noFill/>
            </a:ln>
          </p:spPr>
        </p:sp>
      </p:grpSp>
      <p:grpSp>
        <p:nvGrpSpPr>
          <p:cNvPr id="388" name="Google Shape;388;p10"/>
          <p:cNvGrpSpPr/>
          <p:nvPr/>
        </p:nvGrpSpPr>
        <p:grpSpPr>
          <a:xfrm>
            <a:off x="15481179" y="613780"/>
            <a:ext cx="1919429" cy="711193"/>
            <a:chOff x="0" y="-38100"/>
            <a:chExt cx="505529" cy="187310"/>
          </a:xfrm>
        </p:grpSpPr>
        <p:sp>
          <p:nvSpPr>
            <p:cNvPr id="389" name="Google Shape;389;p10"/>
            <p:cNvSpPr/>
            <p:nvPr/>
          </p:nvSpPr>
          <p:spPr>
            <a:xfrm>
              <a:off x="0" y="0"/>
              <a:ext cx="505529" cy="149210"/>
            </a:xfrm>
            <a:custGeom>
              <a:rect b="b" l="l" r="r" t="t"/>
              <a:pathLst>
                <a:path extrusionOk="0" h="149210" w="505529">
                  <a:moveTo>
                    <a:pt x="56468" y="0"/>
                  </a:moveTo>
                  <a:lnTo>
                    <a:pt x="449060" y="0"/>
                  </a:lnTo>
                  <a:cubicBezTo>
                    <a:pt x="464037" y="0"/>
                    <a:pt x="478400" y="5949"/>
                    <a:pt x="488990" y="16539"/>
                  </a:cubicBezTo>
                  <a:cubicBezTo>
                    <a:pt x="499579" y="27129"/>
                    <a:pt x="505529" y="41492"/>
                    <a:pt x="505529" y="56468"/>
                  </a:cubicBezTo>
                  <a:lnTo>
                    <a:pt x="505529" y="92742"/>
                  </a:lnTo>
                  <a:cubicBezTo>
                    <a:pt x="505529" y="107718"/>
                    <a:pt x="499579" y="122081"/>
                    <a:pt x="488990" y="132671"/>
                  </a:cubicBezTo>
                  <a:cubicBezTo>
                    <a:pt x="478400" y="143261"/>
                    <a:pt x="464037" y="149210"/>
                    <a:pt x="449060" y="149210"/>
                  </a:cubicBezTo>
                  <a:lnTo>
                    <a:pt x="56468" y="149210"/>
                  </a:lnTo>
                  <a:cubicBezTo>
                    <a:pt x="41492" y="149210"/>
                    <a:pt x="27129" y="143261"/>
                    <a:pt x="16539" y="132671"/>
                  </a:cubicBezTo>
                  <a:cubicBezTo>
                    <a:pt x="5949" y="122081"/>
                    <a:pt x="0" y="107718"/>
                    <a:pt x="0" y="92742"/>
                  </a:cubicBezTo>
                  <a:lnTo>
                    <a:pt x="0" y="56468"/>
                  </a:lnTo>
                  <a:cubicBezTo>
                    <a:pt x="0" y="41492"/>
                    <a:pt x="5949" y="27129"/>
                    <a:pt x="16539" y="16539"/>
                  </a:cubicBezTo>
                  <a:cubicBezTo>
                    <a:pt x="27129" y="5949"/>
                    <a:pt x="41492" y="0"/>
                    <a:pt x="564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
            <p:cNvSpPr txBox="1"/>
            <p:nvPr/>
          </p:nvSpPr>
          <p:spPr>
            <a:xfrm>
              <a:off x="0" y="-38100"/>
              <a:ext cx="505529" cy="187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91" name="Google Shape;391;p10"/>
          <p:cNvCxnSpPr/>
          <p:nvPr/>
        </p:nvCxnSpPr>
        <p:spPr>
          <a:xfrm>
            <a:off x="896998" y="9267825"/>
            <a:ext cx="6899513" cy="0"/>
          </a:xfrm>
          <a:prstGeom prst="straightConnector1">
            <a:avLst/>
          </a:prstGeom>
          <a:noFill/>
          <a:ln cap="flat" cmpd="sng" w="38100">
            <a:solidFill>
              <a:srgbClr val="791401"/>
            </a:solidFill>
            <a:prstDash val="solid"/>
            <a:round/>
            <a:headEnd len="sm" w="sm" type="none"/>
            <a:tailEnd len="sm" w="sm" type="none"/>
          </a:ln>
        </p:spPr>
      </p:cxnSp>
      <p:sp>
        <p:nvSpPr>
          <p:cNvPr id="392" name="Google Shape;392;p10"/>
          <p:cNvSpPr txBox="1"/>
          <p:nvPr/>
        </p:nvSpPr>
        <p:spPr>
          <a:xfrm>
            <a:off x="1053125" y="4373856"/>
            <a:ext cx="81153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0000">
                <a:solidFill>
                  <a:srgbClr val="791401"/>
                </a:solidFill>
                <a:latin typeface="Play"/>
                <a:ea typeface="Play"/>
                <a:cs typeface="Play"/>
                <a:sym typeface="Play"/>
              </a:rPr>
              <a:t>Thank You!</a:t>
            </a:r>
            <a:endParaRPr/>
          </a:p>
        </p:txBody>
      </p:sp>
      <p:sp>
        <p:nvSpPr>
          <p:cNvPr id="393" name="Google Shape;393;p10"/>
          <p:cNvSpPr txBox="1"/>
          <p:nvPr/>
        </p:nvSpPr>
        <p:spPr>
          <a:xfrm>
            <a:off x="306427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Introduction</a:t>
            </a:r>
            <a:endParaRPr/>
          </a:p>
        </p:txBody>
      </p:sp>
      <p:sp>
        <p:nvSpPr>
          <p:cNvPr id="394" name="Google Shape;394;p10"/>
          <p:cNvSpPr txBox="1"/>
          <p:nvPr/>
        </p:nvSpPr>
        <p:spPr>
          <a:xfrm>
            <a:off x="4958156" y="906141"/>
            <a:ext cx="27075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Dataset and Cleaning</a:t>
            </a:r>
            <a:endParaRPr/>
          </a:p>
        </p:txBody>
      </p:sp>
      <p:sp>
        <p:nvSpPr>
          <p:cNvPr id="395" name="Google Shape;395;p10"/>
          <p:cNvSpPr txBox="1"/>
          <p:nvPr/>
        </p:nvSpPr>
        <p:spPr>
          <a:xfrm>
            <a:off x="7854288" y="906141"/>
            <a:ext cx="15891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Model</a:t>
            </a:r>
            <a:endParaRPr/>
          </a:p>
        </p:txBody>
      </p:sp>
      <p:sp>
        <p:nvSpPr>
          <p:cNvPr id="396" name="Google Shape;396;p10"/>
          <p:cNvSpPr txBox="1"/>
          <p:nvPr/>
        </p:nvSpPr>
        <p:spPr>
          <a:xfrm>
            <a:off x="896998" y="906159"/>
            <a:ext cx="2235300" cy="315600"/>
          </a:xfrm>
          <a:prstGeom prst="rect">
            <a:avLst/>
          </a:prstGeom>
          <a:noFill/>
          <a:ln>
            <a:noFill/>
          </a:ln>
        </p:spPr>
        <p:txBody>
          <a:bodyPr anchorCtr="0" anchor="t" bIns="0" lIns="0" spcFirstLastPara="1" rIns="0" wrap="square" tIns="0">
            <a:spAutoFit/>
          </a:bodyPr>
          <a:lstStyle/>
          <a:p>
            <a:pPr indent="0" lvl="0" marL="0" marR="0" rtl="0" algn="l">
              <a:lnSpc>
                <a:spcPct val="111019"/>
              </a:lnSpc>
              <a:spcBef>
                <a:spcPts val="0"/>
              </a:spcBef>
              <a:spcAft>
                <a:spcPts val="0"/>
              </a:spcAft>
              <a:buNone/>
            </a:pPr>
            <a:r>
              <a:rPr b="1" lang="en-US" sz="2051">
                <a:solidFill>
                  <a:srgbClr val="2A2D2C"/>
                </a:solidFill>
              </a:rPr>
              <a:t>NSDC</a:t>
            </a:r>
            <a:endParaRPr/>
          </a:p>
        </p:txBody>
      </p:sp>
      <p:sp>
        <p:nvSpPr>
          <p:cNvPr id="397" name="Google Shape;397;p10"/>
          <p:cNvSpPr txBox="1"/>
          <p:nvPr/>
        </p:nvSpPr>
        <p:spPr>
          <a:xfrm>
            <a:off x="11416105"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chemeClr val="lt1"/>
                </a:solidFill>
              </a:rPr>
              <a:t>Demo</a:t>
            </a:r>
            <a:endParaRPr>
              <a:solidFill>
                <a:schemeClr val="lt1"/>
              </a:solidFill>
            </a:endParaRPr>
          </a:p>
        </p:txBody>
      </p:sp>
      <p:sp>
        <p:nvSpPr>
          <p:cNvPr id="398" name="Google Shape;398;p10"/>
          <p:cNvSpPr txBox="1"/>
          <p:nvPr/>
        </p:nvSpPr>
        <p:spPr>
          <a:xfrm>
            <a:off x="9575161" y="906141"/>
            <a:ext cx="16626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51">
                <a:solidFill>
                  <a:srgbClr val="2A2D2C"/>
                </a:solidFill>
              </a:rPr>
              <a:t>Evaluation</a:t>
            </a:r>
            <a:endParaRPr/>
          </a:p>
        </p:txBody>
      </p:sp>
      <p:sp>
        <p:nvSpPr>
          <p:cNvPr id="399" name="Google Shape;399;p10"/>
          <p:cNvSpPr txBox="1"/>
          <p:nvPr/>
        </p:nvSpPr>
        <p:spPr>
          <a:xfrm>
            <a:off x="1351850" y="5766290"/>
            <a:ext cx="5989800" cy="98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200">
                <a:solidFill>
                  <a:srgbClr val="791401"/>
                </a:solidFill>
                <a:latin typeface="Calibri"/>
                <a:ea typeface="Calibri"/>
                <a:cs typeface="Calibri"/>
                <a:sym typeface="Calibri"/>
              </a:rPr>
              <a:t>Any Questions?</a:t>
            </a:r>
            <a:endParaRPr sz="3200">
              <a:solidFill>
                <a:srgbClr val="791401"/>
              </a:solidFill>
              <a:latin typeface="Calibri"/>
              <a:ea typeface="Calibri"/>
              <a:cs typeface="Calibri"/>
              <a:sym typeface="Calibri"/>
            </a:endParaRPr>
          </a:p>
        </p:txBody>
      </p:sp>
      <p:sp>
        <p:nvSpPr>
          <p:cNvPr id="400" name="Google Shape;400;p10"/>
          <p:cNvSpPr txBox="1"/>
          <p:nvPr/>
        </p:nvSpPr>
        <p:spPr>
          <a:xfrm>
            <a:off x="15736303" y="894086"/>
            <a:ext cx="1421400" cy="4329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2A2D2C"/>
                </a:solidFill>
                <a:latin typeface="Arial"/>
                <a:ea typeface="Arial"/>
                <a:cs typeface="Arial"/>
                <a:sym typeface="Arial"/>
              </a:rPr>
              <a:t>Page </a:t>
            </a:r>
            <a:r>
              <a:rPr b="1" lang="en-US" sz="1999">
                <a:solidFill>
                  <a:srgbClr val="2A2D2C"/>
                </a:solidFill>
              </a:rPr>
              <a:t>11</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